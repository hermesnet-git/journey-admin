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6ac7cf52a54935" /><Relationship Type="http://schemas.openxmlformats.org/officeDocument/2006/relationships/extended-properties" Target="/docProps/app.xml" Id="Rff962eb2d3b64a5f" /><Relationship Type="http://schemas.openxmlformats.org/officeDocument/2006/relationships/officeDocument" Target="/ppt/presentation.xml" Id="Rebbb46d96ffb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c952749ab4f50"/>
  </p:sldMasterIdLst>
  <p:notesMasterIdLst>
    <p:notesMasterId xmlns:r="http://schemas.openxmlformats.org/officeDocument/2006/relationships" r:id="R6ad165ac65f64885"/>
  </p:notesMasterIdLst>
  <p:sldIdLst>
    <p:sldId xmlns:r="http://schemas.openxmlformats.org/officeDocument/2006/relationships" id="256" r:id="R0e9d3721e9804eed"/>
    <p:sldId xmlns:r="http://schemas.openxmlformats.org/officeDocument/2006/relationships" id="257" r:id="R1d94e938239143be"/>
    <p:sldId xmlns:r="http://schemas.openxmlformats.org/officeDocument/2006/relationships" id="258" r:id="R387ccbaecd97471f"/>
    <p:sldId xmlns:r="http://schemas.openxmlformats.org/officeDocument/2006/relationships" id="259" r:id="Rb06e99ef33bc4de2"/>
    <p:sldId xmlns:r="http://schemas.openxmlformats.org/officeDocument/2006/relationships" id="260" r:id="R79b9a78343424c9b"/>
    <p:sldId xmlns:r="http://schemas.openxmlformats.org/officeDocument/2006/relationships" id="261" r:id="Rc2d1d0d7537d46b8"/>
    <p:sldId xmlns:r="http://schemas.openxmlformats.org/officeDocument/2006/relationships" id="262" r:id="R961c056e400b4e75"/>
    <p:sldId xmlns:r="http://schemas.openxmlformats.org/officeDocument/2006/relationships" id="263" r:id="Rd52f46ec31014eb6"/>
    <p:sldId xmlns:r="http://schemas.openxmlformats.org/officeDocument/2006/relationships" id="264" r:id="R01469a37d52c4436"/>
    <p:sldId xmlns:r="http://schemas.openxmlformats.org/officeDocument/2006/relationships" id="265" r:id="R2084c473b9b44b76"/>
    <p:sldId xmlns:r="http://schemas.openxmlformats.org/officeDocument/2006/relationships" id="266" r:id="R7e94145648bf4629"/>
    <p:sldId xmlns:r="http://schemas.openxmlformats.org/officeDocument/2006/relationships" id="267" r:id="R2a255ecd50654cc7"/>
    <p:sldId xmlns:r="http://schemas.openxmlformats.org/officeDocument/2006/relationships" id="268" r:id="R5178ef29305a4166"/>
    <p:sldId xmlns:r="http://schemas.openxmlformats.org/officeDocument/2006/relationships" id="269" r:id="R4591725e94bb41cc"/>
    <p:sldId xmlns:r="http://schemas.openxmlformats.org/officeDocument/2006/relationships" id="270" r:id="R80efc095054841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c02f690e5e4b42" /><Relationship Type="http://schemas.openxmlformats.org/officeDocument/2006/relationships/slideMaster" Target="/ppt/slideMasters/slideMaster1.xml" Id="R9e5c952749ab4f50" /><Relationship Type="http://schemas.openxmlformats.org/officeDocument/2006/relationships/notesMaster" Target="/ppt/notesMasters/notesMaster1.xml" Id="R6ad165ac65f64885" /><Relationship Type="http://schemas.openxmlformats.org/officeDocument/2006/relationships/presProps" Target="/ppt/presProps.xml" Id="R9a736a09898c47e4" /><Relationship Type="http://schemas.openxmlformats.org/officeDocument/2006/relationships/tableStyles" Target="/ppt/tableStyles.xml" Id="Rc1d4769ae9484237" /><Relationship Type="http://schemas.openxmlformats.org/officeDocument/2006/relationships/slide" Target="/ppt/slides/slide1.xml" Id="R0e9d3721e9804eed" /><Relationship Type="http://schemas.openxmlformats.org/officeDocument/2006/relationships/slide" Target="/ppt/slides/slide2.xml" Id="R1d94e938239143be" /><Relationship Type="http://schemas.openxmlformats.org/officeDocument/2006/relationships/slide" Target="/ppt/slides/slide3.xml" Id="R387ccbaecd97471f" /><Relationship Type="http://schemas.openxmlformats.org/officeDocument/2006/relationships/slide" Target="/ppt/slides/slide4.xml" Id="Rb06e99ef33bc4de2" /><Relationship Type="http://schemas.openxmlformats.org/officeDocument/2006/relationships/slide" Target="/ppt/slides/slide5.xml" Id="R79b9a78343424c9b" /><Relationship Type="http://schemas.openxmlformats.org/officeDocument/2006/relationships/slide" Target="/ppt/slides/slide6.xml" Id="Rc2d1d0d7537d46b8" /><Relationship Type="http://schemas.openxmlformats.org/officeDocument/2006/relationships/slide" Target="/ppt/slides/slide7.xml" Id="R961c056e400b4e75" /><Relationship Type="http://schemas.openxmlformats.org/officeDocument/2006/relationships/slide" Target="/ppt/slides/slide8.xml" Id="Rd52f46ec31014eb6" /><Relationship Type="http://schemas.openxmlformats.org/officeDocument/2006/relationships/slide" Target="/ppt/slides/slide9.xml" Id="R01469a37d52c4436" /><Relationship Type="http://schemas.openxmlformats.org/officeDocument/2006/relationships/slide" Target="/ppt/slides/slide10.xml" Id="R2084c473b9b44b76" /><Relationship Type="http://schemas.openxmlformats.org/officeDocument/2006/relationships/slide" Target="/ppt/slides/slide11.xml" Id="R7e94145648bf4629" /><Relationship Type="http://schemas.openxmlformats.org/officeDocument/2006/relationships/slide" Target="/ppt/slides/slide12.xml" Id="R2a255ecd50654cc7" /><Relationship Type="http://schemas.openxmlformats.org/officeDocument/2006/relationships/slide" Target="/ppt/slides/slide13.xml" Id="R5178ef29305a4166" /><Relationship Type="http://schemas.openxmlformats.org/officeDocument/2006/relationships/slide" Target="/ppt/slides/slide14.xml" Id="R4591725e94bb41cc" /><Relationship Type="http://schemas.openxmlformats.org/officeDocument/2006/relationships/slide" Target="/ppt/slides/slide15.xml" Id="R80efc0950548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4e2068cdd747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9a4da099a4c74" /><Relationship Type="http://schemas.openxmlformats.org/officeDocument/2006/relationships/notesMaster" Target="/ppt/notesMasters/notesMaster1.xml" Id="R6bbcd01ba68446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d25f05b19a4722" /><Relationship Type="http://schemas.openxmlformats.org/officeDocument/2006/relationships/notesMaster" Target="/ppt/notesMasters/notesMaster1.xml" Id="R2f0f6564f5074f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f665f80f3c45a0" /><Relationship Type="http://schemas.openxmlformats.org/officeDocument/2006/relationships/notesMaster" Target="/ppt/notesMasters/notesMaster1.xml" Id="Rba8708ef039c41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f361eb34b74a07" /><Relationship Type="http://schemas.openxmlformats.org/officeDocument/2006/relationships/notesMaster" Target="/ppt/notesMasters/notesMaster1.xml" Id="R1aff716b626445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b34de97850411c" /><Relationship Type="http://schemas.openxmlformats.org/officeDocument/2006/relationships/notesMaster" Target="/ppt/notesMasters/notesMaster1.xml" Id="R47e3ef759b1a41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cf04d04ac14cd4" /><Relationship Type="http://schemas.openxmlformats.org/officeDocument/2006/relationships/notesMaster" Target="/ppt/notesMasters/notesMaster1.xml" Id="Rcdb86ca4b5174d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e5c7cd37894772" /><Relationship Type="http://schemas.openxmlformats.org/officeDocument/2006/relationships/notesMaster" Target="/ppt/notesMasters/notesMaster1.xml" Id="R81c0c6f6c6ba4f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9076b65a16407c" /><Relationship Type="http://schemas.openxmlformats.org/officeDocument/2006/relationships/notesMaster" Target="/ppt/notesMasters/notesMaster1.xml" Id="R5445925d48924f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9e1ed2eb3b492c" /><Relationship Type="http://schemas.openxmlformats.org/officeDocument/2006/relationships/notesMaster" Target="/ppt/notesMasters/notesMaster1.xml" Id="R39e30d0839bd46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2f71c4458b4273" /><Relationship Type="http://schemas.openxmlformats.org/officeDocument/2006/relationships/notesMaster" Target="/ppt/notesMasters/notesMaster1.xml" Id="Re82c684575f54a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931bd384694518" /><Relationship Type="http://schemas.openxmlformats.org/officeDocument/2006/relationships/notesMaster" Target="/ppt/notesMasters/notesMaster1.xml" Id="Reb849cafa29c43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85b02ba3f54bdd" /><Relationship Type="http://schemas.openxmlformats.org/officeDocument/2006/relationships/notesMaster" Target="/ppt/notesMasters/notesMaster1.xml" Id="Rc39b30dbcd784b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ab6990ff034a8d" /><Relationship Type="http://schemas.openxmlformats.org/officeDocument/2006/relationships/notesMaster" Target="/ppt/notesMasters/notesMaster1.xml" Id="Rf2a82ebe40d74a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7d806f5e4046db" /><Relationship Type="http://schemas.openxmlformats.org/officeDocument/2006/relationships/notesMaster" Target="/ppt/notesMasters/notesMaster1.xml" Id="Rdae82260fe6742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2882ab73af430b" /><Relationship Type="http://schemas.openxmlformats.org/officeDocument/2006/relationships/notesMaster" Target="/ppt/notesMasters/notesMaster1.xml" Id="R763119b0234b48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pela decisão de negócio: reduzir o custo de experimentar e evoluir jornadas digitais sem abrir mão de controle. A apresentação mostra a escolha arquitetural, o valor e os gates de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Mística Vivo Evolution palette: front/node_modules/@telefonica/mistica/src/skins/vivo-evolution.tsx</a:t>
            </a:r>
          </a:p>
          <a:p xmlns:a="http://schemas.openxmlformats.org/drawingml/2006/main">
            <a:r>
              <a:t>- Mística Vivo logo source: front/node_modules/@telefonica/mistica/src/logo-vivo.tsx</a:t>
            </a:r>
          </a:p>
          <a:p xmlns:a="http://schemas.openxmlformats.org/drawingml/2006/main">
            <a:r>
              <a:t>- Generated background prompt: abstract converging digital journey ribbons; built-in image generation; no text or logo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como resumo da recomendação. A mensagem central é deslocar a complexidade para uma plataforma reutilizável e impedir que integrações simples herdem uma camada ACL sem necessidade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images: as is.png, comparativo.png, over.png, tobe.png</a:t>
            </a:r>
          </a:p>
          <a:p xmlns:a="http://schemas.openxmlformats.org/drawingml/2006/main">
            <a:r>
              <a:t>- requisitos/admin/progresso.md — resumo de progresso da versão 1.0.0</a:t>
            </a:r>
          </a:p>
          <a:p xmlns:a="http://schemas.openxmlformats.org/drawingml/2006/main">
            <a:r>
              <a:t>- requisitos/admin/ej-admin-arquitetura-logica.md — fronteiras e responsabilidades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dor não é ter vários canais; é cada canal possuir sua própria mini-plataforma. Quanto mais canais, maior a coordenação de mudanças e maior a probabilidade de divergência da experiência.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as is.png</a:t>
            </a:r>
          </a:p>
          <a:p xmlns:a="http://schemas.openxmlformats.org/drawingml/2006/main">
            <a:r>
              <a:t>- requisitos/admin/ej-admin-index.md — papel do Admin Portal e cardinalidade por canal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tratar ACL como padrão universal. O argumento não é eliminar ACL; é usá-la onde existe transformação, composição ou isolamento real. Para uma chamada REST simples, o motor e seu conector genérico já cumprem o papel.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comparativo.png</a:t>
            </a:r>
          </a:p>
          <a:p xmlns:a="http://schemas.openxmlformats.org/drawingml/2006/main">
            <a:r>
              <a:t>- User-provided image: over.png</a:t>
            </a:r>
          </a:p>
          <a:p xmlns:a="http://schemas.openxmlformats.org/drawingml/2006/main">
            <a:r>
              <a:t>- requisitos/admin/ej-admin-requisitos.md — US-03.08 e US-03.09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slide de decisão arquitetural. A ACL continua disponível, porém subordinada a critérios explícitos. Os mesmos guardrails de segurança, auditoria e observabilidade valem para os dois caminhos.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comparativo.png — seção 'Quando a ACL faz sentido'</a:t>
            </a:r>
          </a:p>
          <a:p xmlns:a="http://schemas.openxmlformats.org/drawingml/2006/main">
            <a:r>
              <a:t>- User-provided image: over.png — recomendação</a:t>
            </a:r>
          </a:p>
          <a:p xmlns:a="http://schemas.openxmlformats.org/drawingml/2006/main">
            <a:r>
              <a:t>- requisitos/admin/ej-admin-arquitetura-logica.md — framework de conectores e fronteira com runtime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separação de responsabilidades: canais renderizam e adaptam; Elastic Journey modela, versiona e executa; sistemas corporativos permanecem atrás de contratos. O caminho assíncrono é opção arquitetural, não obrigação.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tobe.png</a:t>
            </a:r>
          </a:p>
          <a:p xmlns:a="http://schemas.openxmlformats.org/drawingml/2006/main">
            <a:r>
              <a:t>- User-provided image: as is.png — visão consolidada Elastic Journey + SDUI</a:t>
            </a:r>
          </a:p>
          <a:p xmlns:a="http://schemas.openxmlformats.org/drawingml/2006/main">
            <a:r>
              <a:t>- requisitos/admin/ej-admin-arquitetura-logica.md — domínios, publicação, execução e fronteira com runtime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arquitetura ao processo decisório de produto. O ganho não é apenas prazo de desenvolvimento: é reduzir a distância entre hipótese, execução e evidência, preservando versionamento e controle.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tobe.png — resultados de negócio e princípio arquitetural</a:t>
            </a:r>
          </a:p>
          <a:p xmlns:a="http://schemas.openxmlformats.org/drawingml/2006/main">
            <a:r>
              <a:t>- requisitos/admin/ej-admin-requisitos.md — FT-03, FT-04, FT-05 e FT-06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progresso funcional de prontidão produtiva. O progresso oficial é 90%. Quando se excluem FT-11 e FT-12, as demais features estão em aproximadamente 98% dos requisitos aplicáveis; isso reforça que o gap está concentrado.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requisitos/admin/progresso.md — 335 done, 3 in_progress, 31 todo, 2 n/a, 0 blocked</a:t>
            </a:r>
          </a:p>
          <a:p xmlns:a="http://schemas.openxmlformats.org/drawingml/2006/main">
            <a:r>
              <a:t>- Calculation from progress table: FT-01..FT-06 = 253/255; FT-07..FT-10 + FT-13 = 82/86 applicable; FT-11..FT-12 = 0/28 done</a:t>
            </a:r>
          </a:p>
          <a:p xmlns:a="http://schemas.openxmlformats.org/drawingml/2006/main">
            <a:r>
              <a:t>- Local verification on 2026-08-20: npm run build success; Maven verify success; source-tree scan found 0 Java tests and 0 front-end test files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transparência aqui aumenta a confiança. O produto já permite demonstrar valor, mas a organização não deve confundir compilação e cobertura funcional com resiliência, segurança e repetibilidade de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requisitos/admin/progresso.md — FT-11 Testes e FT-12 Infraestrutura</a:t>
            </a:r>
          </a:p>
          <a:p xmlns:a="http://schemas.openxmlformats.org/drawingml/2006/main">
            <a:r>
              <a:t>- requisitos/admin/ej-admin-index.md — mocks e fora de escopo</a:t>
            </a:r>
          </a:p>
          <a:p xmlns:a="http://schemas.openxmlformats.org/drawingml/2006/main">
            <a:r>
              <a:t>- requisitos/admin/ej-admin-arquitetura-logica.md — contrato definitivo do runtime ainda não definido</a:t>
            </a:r>
          </a:p>
          <a:p xmlns:a="http://schemas.openxmlformats.org/drawingml/2006/main">
            <a:r>
              <a:t>- Local source-tree and build verification on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um sequenciamento, não um cronograma. A proposta evita expandir canais e consumidores antes de fechar repetibilidade, contratos e observabilidade. O piloto deve medir valor e também expor riscos operacionais.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requisitos/admin/progresso.md — itens abertos de FT-11 e FT-12</a:t>
            </a:r>
          </a:p>
          <a:p xmlns:a="http://schemas.openxmlformats.org/drawingml/2006/main">
            <a:r>
              <a:t>- User-provided tobe.png — valor esperado de velocidade, qualidade, escala e controle</a:t>
            </a:r>
          </a:p>
          <a:p xmlns:a="http://schemas.openxmlformats.org/drawingml/2006/main">
            <a:r>
              <a:t>- Recommendation synthesized from local project evidence; no committed dates assumed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três decisões concretas. Não peça aprovação genérica do projeto: peça adesão ao princípio arquitetural, prioridade aos gates de produção e patrocínio para um piloto mensurável.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user-provided AS IS / comparison / overengineering / TO BE artifacts</a:t>
            </a:r>
          </a:p>
          <a:p xmlns:a="http://schemas.openxmlformats.org/drawingml/2006/main">
            <a:r>
              <a:t>- requisitos/admin/progresso.md and ej-admin-arquitetura-logica.md</a:t>
            </a:r>
          </a:p>
          <a:p xmlns:a="http://schemas.openxmlformats.org/drawingml/2006/main">
            <a:r>
              <a:t>- Generated background reused from slide 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artefato como referência técnica quando houver perguntas de detalhamento.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C:/Users/gonza/AppData/Local/Temp/as 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artefato como referência técnica quando houver perguntas de detalhamento.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C:/Users/gonza/AppData/Local/Temp/comparativo.png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artefato como referência técnica quando houver perguntas de detalhamento.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C:/Users/gonza/AppData/Local/Temp/over.png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artefato como referência técnica quando houver perguntas de detalhamento.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C:/Users/gonza/AppData/Local/Temp/tobe.png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cbb93d9ba4a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cba1a6db4c41b7" /><Relationship Type="http://schemas.openxmlformats.org/officeDocument/2006/relationships/slideLayout" Target="/ppt/slideLayouts/slideLayout1.xml" Id="R3c42783661f64a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42783661f64a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685bbddd04b58" /><Relationship Type="http://schemas.openxmlformats.org/officeDocument/2006/relationships/image" Target="/ppt/media/image.png" Id="R1dfb1333837a440a" /><Relationship Type="http://schemas.openxmlformats.org/officeDocument/2006/relationships/image" Target="/ppt/media/image2.png" Id="Rf12829801fc349c2" /><Relationship Type="http://schemas.openxmlformats.org/officeDocument/2006/relationships/image" Target="/ppt/media/image.svg" Id="Rcb113f17331d41c3" /><Relationship Type="http://schemas.openxmlformats.org/officeDocument/2006/relationships/notesSlide" Target="/ppt/notesSlides/notesSlide1.xml" Id="R15757198ebe443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28aef546e4e45" /><Relationship Type="http://schemas.openxmlformats.org/officeDocument/2006/relationships/image" Target="/ppt/media/image3.png" Id="R23972dc314a04a64" /><Relationship Type="http://schemas.openxmlformats.org/officeDocument/2006/relationships/image" Target="/ppt/media/image2.svg" Id="R441ab789ff4b4fcb" /><Relationship Type="http://schemas.openxmlformats.org/officeDocument/2006/relationships/notesSlide" Target="/ppt/notesSlides/notesSlide2.xml" Id="Re4f2f86692114c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43ace02fc483b" /><Relationship Type="http://schemas.openxmlformats.org/officeDocument/2006/relationships/image" Target="/ppt/media/image4.png" Id="R2ff9b717cea44e0b" /><Relationship Type="http://schemas.openxmlformats.org/officeDocument/2006/relationships/image" Target="/ppt/media/image3.svg" Id="Rd440af56969f47c0" /><Relationship Type="http://schemas.openxmlformats.org/officeDocument/2006/relationships/notesSlide" Target="/ppt/notesSlides/notesSlide3.xml" Id="R8a6b3b2d712f49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66d88ff214673" /><Relationship Type="http://schemas.openxmlformats.org/officeDocument/2006/relationships/image" Target="/ppt/media/image5.png" Id="R30f0e33efdfb49ab" /><Relationship Type="http://schemas.openxmlformats.org/officeDocument/2006/relationships/image" Target="/ppt/media/image4.svg" Id="Rff39737bce3c475f" /><Relationship Type="http://schemas.openxmlformats.org/officeDocument/2006/relationships/notesSlide" Target="/ppt/notesSlides/notesSlide4.xml" Id="R6ff7a65d9989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3a5e446c2494e" /><Relationship Type="http://schemas.openxmlformats.org/officeDocument/2006/relationships/image" Target="/ppt/media/image6.png" Id="R663bac389e4948b5" /><Relationship Type="http://schemas.openxmlformats.org/officeDocument/2006/relationships/image" Target="/ppt/media/image5.svg" Id="Re139f48597164fdf" /><Relationship Type="http://schemas.openxmlformats.org/officeDocument/2006/relationships/notesSlide" Target="/ppt/notesSlides/notesSlide5.xml" Id="R1680e854b55144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4b5d22c2742d4" /><Relationship Type="http://schemas.openxmlformats.org/officeDocument/2006/relationships/image" Target="/ppt/media/image7.png" Id="R11d5bb1661104bd3" /><Relationship Type="http://schemas.openxmlformats.org/officeDocument/2006/relationships/image" Target="/ppt/media/image6.svg" Id="R46bbe95ddb7d418c" /><Relationship Type="http://schemas.openxmlformats.org/officeDocument/2006/relationships/notesSlide" Target="/ppt/notesSlides/notesSlide6.xml" Id="R47171d6f802f48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49e4d1ba148af" /><Relationship Type="http://schemas.openxmlformats.org/officeDocument/2006/relationships/image" Target="/ppt/media/image8.png" Id="R03448c8d6b294bbf" /><Relationship Type="http://schemas.openxmlformats.org/officeDocument/2006/relationships/image" Target="/ppt/media/image7.svg" Id="R912323b2fd574acc" /><Relationship Type="http://schemas.openxmlformats.org/officeDocument/2006/relationships/notesSlide" Target="/ppt/notesSlides/notesSlide7.xml" Id="R2f396d2b678241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6c2182fb747d7" /><Relationship Type="http://schemas.openxmlformats.org/officeDocument/2006/relationships/image" Target="/ppt/media/image9.png" Id="R36d04d21b4cd4d2f" /><Relationship Type="http://schemas.openxmlformats.org/officeDocument/2006/relationships/image" Target="/ppt/media/image8.svg" Id="R3e71335f15404eee" /><Relationship Type="http://schemas.openxmlformats.org/officeDocument/2006/relationships/chart" Target="/ppt/slides/charts/chart1.xml" Id="R208ae50b61b7461f" /><Relationship Type="http://schemas.openxmlformats.org/officeDocument/2006/relationships/notesSlide" Target="/ppt/notesSlides/notesSlide8.xml" Id="R990946a224894f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919322575414c" /><Relationship Type="http://schemas.openxmlformats.org/officeDocument/2006/relationships/image" Target="/ppt/media/image10.png" Id="Red8fb0741bd14c82" /><Relationship Type="http://schemas.openxmlformats.org/officeDocument/2006/relationships/image" Target="/ppt/media/image9.svg" Id="Rcb6d996d6bb04047" /><Relationship Type="http://schemas.openxmlformats.org/officeDocument/2006/relationships/notesSlide" Target="/ppt/notesSlides/notesSlide9.xml" Id="R1c6b98d586cc48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c0b34e784919" /><Relationship Type="http://schemas.openxmlformats.org/officeDocument/2006/relationships/image" Target="/ppt/media/image11.png" Id="Rc6d049392e59407e" /><Relationship Type="http://schemas.openxmlformats.org/officeDocument/2006/relationships/image" Target="/ppt/media/image10.svg" Id="R61ca7009dc5b4628" /><Relationship Type="http://schemas.openxmlformats.org/officeDocument/2006/relationships/notesSlide" Target="/ppt/notesSlides/notesSlide10.xml" Id="R6f86596e278e41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bd4825903431b" /><Relationship Type="http://schemas.openxmlformats.org/officeDocument/2006/relationships/image" Target="/ppt/media/image12.png" Id="R12fc7285b8474be2" /><Relationship Type="http://schemas.openxmlformats.org/officeDocument/2006/relationships/image" Target="/ppt/media/image13.png" Id="R3e57fdb9869a4c23" /><Relationship Type="http://schemas.openxmlformats.org/officeDocument/2006/relationships/image" Target="/ppt/media/image11.svg" Id="R7147e474f74d47aa" /><Relationship Type="http://schemas.openxmlformats.org/officeDocument/2006/relationships/notesSlide" Target="/ppt/notesSlides/notesSlide11.xml" Id="R3aed66df952a40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9709acb5c4ad6" /><Relationship Type="http://schemas.openxmlformats.org/officeDocument/2006/relationships/image" Target="/ppt/media/image14.png" Id="Rc0cb829454ad4578" /><Relationship Type="http://schemas.openxmlformats.org/officeDocument/2006/relationships/image" Target="/ppt/media/image12.svg" Id="R6fa56e08fb95403a" /><Relationship Type="http://schemas.openxmlformats.org/officeDocument/2006/relationships/image" Target="/ppt/media/image15.png" Id="Rd5ce6e4403524142" /><Relationship Type="http://schemas.openxmlformats.org/officeDocument/2006/relationships/notesSlide" Target="/ppt/notesSlides/notesSlide12.xml" Id="R8c9516b748e04b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db7c8a7ee4467" /><Relationship Type="http://schemas.openxmlformats.org/officeDocument/2006/relationships/image" Target="/ppt/media/image16.png" Id="R65683817d547475c" /><Relationship Type="http://schemas.openxmlformats.org/officeDocument/2006/relationships/image" Target="/ppt/media/image13.svg" Id="R29a87e36e9844f82" /><Relationship Type="http://schemas.openxmlformats.org/officeDocument/2006/relationships/image" Target="/ppt/media/image17.png" Id="Rcb8299faaf5a4a56" /><Relationship Type="http://schemas.openxmlformats.org/officeDocument/2006/relationships/notesSlide" Target="/ppt/notesSlides/notesSlide13.xml" Id="Rb901d53451974e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195e082fe4a10" /><Relationship Type="http://schemas.openxmlformats.org/officeDocument/2006/relationships/image" Target="/ppt/media/image18.png" Id="R656cec7ea44e4e01" /><Relationship Type="http://schemas.openxmlformats.org/officeDocument/2006/relationships/image" Target="/ppt/media/image14.svg" Id="R9ea00946556547c7" /><Relationship Type="http://schemas.openxmlformats.org/officeDocument/2006/relationships/image" Target="/ppt/media/image19.png" Id="R65dc83898aed4f95" /><Relationship Type="http://schemas.openxmlformats.org/officeDocument/2006/relationships/notesSlide" Target="/ppt/notesSlides/notesSlide14.xml" Id="R0e1e3e8fe6734a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77d846cfc40a3" /><Relationship Type="http://schemas.openxmlformats.org/officeDocument/2006/relationships/image" Target="/ppt/media/image20.png" Id="R0a77938804704ac1" /><Relationship Type="http://schemas.openxmlformats.org/officeDocument/2006/relationships/image" Target="/ppt/media/image15.svg" Id="R8629fc857d434a53" /><Relationship Type="http://schemas.openxmlformats.org/officeDocument/2006/relationships/image" Target="/ppt/media/image21.png" Id="Rdeec413c36284657" /><Relationship Type="http://schemas.openxmlformats.org/officeDocument/2006/relationships/notesSlide" Target="/ppt/notesSlides/notesSlide15.xml" Id="R01ace682754e4df8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Requisitos</c:v>
          </c:tx>
          <c:dPt>
            <c:idx val="0"/>
            <c:spPr>
              <a:solidFill xmlns:a="http://schemas.openxmlformats.org/drawingml/2006/main">
                <a:srgbClr val="660099"/>
              </a:solidFill>
              <a:ln xmlns:a="http://schemas.openxmlformats.org/drawingml/2006/main" w="0">
                <a:solidFill>
                  <a:srgbClr val="660099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EEEEEE"/>
              </a:solidFill>
              <a:ln xmlns:a="http://schemas.openxmlformats.org/drawingml/2006/main" w="0">
                <a:solidFill>
                  <a:srgbClr val="EEEEEE"/>
                </a:solidFill>
                <a:prstDash val="solid"/>
              </a:ln>
            </c:spPr>
          </c:dPt>
          <c:cat>
            <c:strLit>
              <c:ptCount val="2"/>
              <c:pt idx="0">
                <c:v>Concluídos</c:v>
              </c:pt>
              <c:pt idx="1">
                <c:v>Restantes</c:v>
              </c:pt>
            </c:strLit>
          </c:cat>
          <c:val>
            <c:numLit>
              <c:formatCode>General</c:formatCode>
              <c:ptCount val="2"/>
              <c:pt idx="0">
                <c:v>335</c:v>
              </c:pt>
              <c:pt idx="1">
                <c:v>36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b1333837a44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C7922-9682-477F-833C-CE2F60D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90510">
                  <a:alpha val="94000"/>
                </a:srgbClr>
              </a:gs>
              <a:gs pos="58000">
                <a:srgbClr val="170522">
                  <a:alpha val="48000"/>
                </a:srgbClr>
              </a:gs>
              <a:gs pos="100000">
                <a:srgbClr val="090510">
                  <a:alpha val="16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829801fc349c2">
            <a:extLst>
              <a:ext uri="{96DAC541-7B7A-43D3-8B79-37D633B846F1}">
                <asvg:svgBlip xmlns:asvg="http://schemas.microsoft.com/office/drawing/2016/SVG/main" r:embed="Rcb113f17331d41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B5CB1-1C9B-45DD-AFBB-0F01795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4C305-0698-4861-93C0-2C61C88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4EAA5-6686-4748-8714-8EDFE6E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33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Menos complexidade.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velocidade para inovar.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D1C4D-B3A5-4345-B814-260FF06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4958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A4D6B-900D-4C60-B90C-B95D2306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3EA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EAF8"/>
                </a:solidFill>
                <a:latin typeface="Arial"/>
                <a:ea typeface="Arial"/>
                <a:cs typeface="Arial"/>
              </a:rPr>
              <a:t>Arquitetura, valor e prontidão do Admin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73498-3EF4-4290-A4B5-1A5AC57E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CD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CDE5"/>
                </a:solidFill>
                <a:latin typeface="Arial"/>
                <a:ea typeface="Arial"/>
                <a:cs typeface="Arial"/>
              </a:rPr>
              <a:t>20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661018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3B528-170B-4896-89AA-DE53CA4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72dc314a04a64">
            <a:extLst>
              <a:ext uri="{96DAC541-7B7A-43D3-8B79-37D633B846F1}">
                <asvg:svgBlip xmlns:asvg="http://schemas.microsoft.com/office/drawing/2016/SVG/main" r:embed="R441ab789ff4b4f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BDBD0-879E-47E2-892C-0A1C8C01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DAD7B-B70A-417B-BDC3-D73A13B2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F077A-2E3C-43B9-B986-E073D889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BCDC0-70C9-4C72-BB4B-5E37D2EE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 decisão não é entre velocidade e governança —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é onde colocar a complexidade.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A0117-98B4-426C-81A0-75D0FA2F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08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Centralize jornada, estado e experiência. Mantenha a integração simples por padrão.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F5B50-4CF2-4781-A2AF-18FF17D8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0861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CE023-8D83-4FBA-9C78-303D68BC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BBE5C-C788-46D4-A3D9-A2C1F412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BAB8D-971C-4F57-8A91-58CC6BA9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4B3F1-4F80-40E6-A505-84DC8AA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Cada canal replica regras, estado, telas e integrações.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B00FE-F72B-42B6-8567-F5498E4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56CBA-3824-49D8-9EB0-7ED4F54D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95575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11ED2-3169-4921-B4F0-C964E495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Escolha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945E5-6952-48A6-88C2-E8A7E280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671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Elastic Journey concentra orquestração e SDUI.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BF83B-EE25-46B5-A2DA-C69FFE5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42CF4-6046-43F5-87E3-0661FB56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95575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1296A-DFCE-4421-99AA-6245EB4E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76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BD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BD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C7C44-6E31-483D-975E-B2DFC332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671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Reuso, consistência e menor superfície operacional.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8CED0-FC49-44C3-8945-A0B75310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75E46-7DBE-4C5E-89E7-D53E3FF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95575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7CA34-B34A-4126-A62D-CD55DA0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76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Situação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19317-7E43-4D14-9932-19138529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671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90% dos requisitos concluídos; industrialização em aberto.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934C7-4717-4C44-B997-307D959B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14975"/>
            <a:ext cx="108204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1E2AA2-02FA-4FBA-9D0C-E8BE50FE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Tese executiva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2315E-E2AA-4F8E-9F27-00A6E62B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38800"/>
            <a:ext cx="864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9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 plataforma já demonstra valor funcional; o próximo investimento deve transformar essa prova em capacidade corporativa.</a:t>
            </a:r>
          </a:p>
        </p:txBody>
      </p:sp>
    </p:spTree>
    <p:extLst>
      <p:ext uri="{BB962C8B-B14F-4D97-AF65-F5344CB8AC3E}">
        <p14:creationId xmlns:p14="http://schemas.microsoft.com/office/powerpoint/2010/main" val="214234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BB2805-D1BF-4A8D-81B3-BB023206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9b717cea44e0b">
            <a:extLst>
              <a:ext uri="{96DAC541-7B7A-43D3-8B79-37D633B846F1}">
                <asvg:svgBlip xmlns:asvg="http://schemas.microsoft.com/office/drawing/2016/SVG/main" r:embed="Rd440af56969f47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D418F-7585-49EA-B772-D825414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F9CF9-BFA1-4180-B7D9-8E54B3C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5BA8D-16D4-499D-935E-66B253D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6200B-F56A-4053-96C6-1094E9E6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Hoje, cada novo canal replica a operação inteira.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1CD9E-41A5-4655-B8DC-5896ECF3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escala adiciona alcance — e também duplica lógica, manutenção e risco.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AA9F8-38F3-469D-B76A-7E6E730A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D783-048F-4128-9505-C6AF655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8BF2E-CF3E-4023-A6ED-7A546650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A7303-FB65-4BAC-A049-7609EDF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B46C9-C06B-4E38-8F5F-FF74600E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E0C58-FA7F-418D-ADD9-69EF9A32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72029-0EB6-4D73-80CC-A5841245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22159-7AEB-4733-B1E2-9D6A17BF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13957-AD0C-449E-924A-1416DCCD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0BF71-FC1B-4FF3-BF33-E799B61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38D02-01CA-44B4-972D-D6DD1C56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0BAB8-6D46-422D-8D41-9EF07A8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98AFF-3146-4344-B0B1-9E9DDAFA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191D4-98EE-4C0E-AACC-D222E533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14F56-987B-492D-B518-A159E164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3BCAB-12F8-4C58-9D2C-565899A4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79D1A-4910-475C-B083-EEA490C5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Portal Web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0F24F-AE6F-4D72-B200-C17F9CD5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4CB99-FDFC-4AEE-92D4-C8B6BB8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4D66A-BD76-4E56-A527-F1551EFA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354F3-4EE5-4365-94D2-ED92026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70DF95-EEE6-4ECA-A02D-12889C45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FECE1-58B6-49CF-910D-23A313E8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1BBC7C-8B44-486A-B759-6717811E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C5291-05D6-4276-994D-54BF715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3A3C7B-DDC6-4088-8031-2CC17F2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015BE-0DB8-40A7-B81A-0BDE655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3F831D-0556-4BD6-A93B-0794BA04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ED066-6CB2-4BF9-BC0C-CCE48C4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72731B-AA28-4115-92D2-2528166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B5ED8-BCB4-46D2-97D5-2473CE34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9FFDD0-8FEC-4660-BCC5-0199B425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05345-9528-4FF2-A118-0774E25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6EC13E-A86C-4D89-97AF-649D3601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DB5B83-6C6A-4CC0-BD63-CC236E5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8F03EF-4790-43DE-BE5D-E6C516A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BBD526-58D6-485B-B468-5240D918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58FBC1-1492-4A47-AB84-CEE1933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B8AB82-D831-4743-ADCF-9FA9FD7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0F7596-D588-4EA4-83C7-5F1445DF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1435BD-CE7E-4CAD-8A20-1FF017A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74DD8E-1CDE-4789-918A-104981C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FEC4A4-B8B5-4FCE-A284-7991228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97BA91-EFFF-476F-8FBE-D05BF04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4DC71A-3BA2-4340-AE3D-103833A2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PDV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39681F-4C7C-4481-83BB-210E73BB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EF7EED-4F19-4B48-A412-57038AFE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52BF8D-1A03-4837-8ED4-7CB2B02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FF326B-13CF-4526-8C3C-72146EBD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6440BE-72B2-4E88-A6C9-0EEE2C7F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8FDEC9-8160-409F-BFE1-DFE325CE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A2C1EA-D877-413F-80A7-5B33C3E2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B689BB-9B69-4546-8ACC-600469C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07282E-40E8-4279-9EFA-A25A9478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D000B7-8C36-40DA-93C1-E7848937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CA67C6-CA45-49CA-A1DA-BFADF69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B5B0E0-DCCF-4335-B0C0-DA6A4EF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549C92-755E-4BFF-8083-122DA4C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4B265A-9ED3-4BF9-9372-CBBAB2A4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4AEFFC-7EBA-4F29-BDD4-65299B99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460D42-44CB-439D-8F72-4005EE95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0D7E55-76C9-4D14-AF62-FBF1B910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1633CE-EFAD-44B3-AB3E-73446A61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114279-3C5B-42EA-B6BD-AEF0AEEB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2E8C02-B3E1-4E45-BBCC-91002CF0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B71038-DB40-49A9-8899-0542C2C3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851193-A87B-441D-A4A4-7AE1475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444608-77F4-43A0-A77D-25FB7B35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132158-2C25-4447-BDF8-515EAC41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1A9082-7BC7-41CD-961A-C4A37732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AF6868-DAC7-4652-9928-BB722B2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038725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60F82F-E4AC-4D7F-A509-56E24A00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Sistemas corporativos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BBFBE75-212D-492C-8ABD-1F581DE8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E8E8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8E8"/>
                </a:solidFill>
                <a:latin typeface="Arial"/>
                <a:ea typeface="Arial"/>
                <a:cs typeface="Arial"/>
              </a:rPr>
              <a:t>CRM     ERP     Billing     Catálogo     Legado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C9D09B-6E76-4EAB-ABC9-1EC8FD88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98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Uma mudança de jornada se multiplica por canal.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B79A85-123D-4518-BD66-83C9D5D3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38825"/>
            <a:ext cx="569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Time to market mais lento  •  TCO maior  •  experiência inconsistente  •  menor foco em inovação</a:t>
            </a:r>
          </a:p>
        </p:txBody>
      </p:sp>
    </p:spTree>
    <p:extLst>
      <p:ext uri="{BB962C8B-B14F-4D97-AF65-F5344CB8AC3E}">
        <p14:creationId xmlns:p14="http://schemas.microsoft.com/office/powerpoint/2010/main" val="778032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BB5934-B768-45BD-A638-3B4810A4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0e33efdfb49ab">
            <a:extLst>
              <a:ext uri="{96DAC541-7B7A-43D3-8B79-37D633B846F1}">
                <asvg:svgBlip xmlns:asvg="http://schemas.microsoft.com/office/drawing/2016/SVG/main" r:embed="Rff39737bce3c47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76A9E-DDA8-41DA-B563-138F3F0C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0A0B8-8437-4A2C-B83C-BAAEC28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F3AA5-1FDC-43C5-8B98-3324973A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07015-412A-47CF-87CE-6D746435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 custo escondido está nos handoffs, não na chamada REST.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F87C7-EEC1-4110-8D6B-95FBDEFC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1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Adicionar mensageria e ACL a uma integração síncrona amplia a superfície operacional sem criar valor por si só.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B9B9A-BB8A-4C51-8C0F-C78094E2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254317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097C2-2718-4CD4-A5F2-1C8AA6E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54317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2B197-1A2A-4F6F-A0B6-12D2F9CF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54317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22387-C53A-4B8F-9C8F-22546DA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05AC0-DEA9-4525-BC7B-43ECDD32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E6AF0-9982-4273-8FD4-1B252B78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359C8-7876-4AC7-93DB-5B7ED1FA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E9151-6442-4201-8D17-026F78ED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9D256-CE10-4A07-99E3-4A37625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CAMINHO DIRETO • PADRÃO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5FF28-CC4E-47F0-979A-3F19E902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324100"/>
            <a:ext cx="1524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7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24ABB-BCAC-433A-87CA-43ABABFD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Jornada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8B100-525E-40AB-8CEA-536BB169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2324100"/>
            <a:ext cx="1524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7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850A7-6A04-4470-8F13-F73F2F4B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Service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F2AAB-23F7-4ECD-9DFF-64375CB8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2324100"/>
            <a:ext cx="1524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14288">
            <a:solidFill>
              <a:srgbClr val="99CC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B2BDC-63B0-4C14-94B1-2527FFEB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Conector REST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49C6E-A474-4262-994F-79B289DA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324100"/>
            <a:ext cx="1524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7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81C02-D20C-46EF-BF5E-E6517B18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API corporativa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06875-CFC2-416A-B6F4-30CCA5B9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Contrato explícito • erro/retry centralizados • menos deploys e credenciais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6C1FC-1D2C-46AD-9A15-5A637E4F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VIA ACL • APENAS QUANDO HÁ MEDIAÇÃO REAL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1566B-6C46-4529-8D1E-69D52124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3F5B7-3C43-4482-96B6-5AB10753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Jornada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7251A-596C-48F6-BFA9-2587D90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136A2-ED59-43E4-BAB9-718686BB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Evento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756E4D-5546-48EF-B13D-8062114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14DF71-1BDB-4C7B-91B3-398B059A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Tópico / fila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222720-F6D3-4ED8-B295-9BA18DE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30BFFD-4423-4FD9-AB6E-DAA54C70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Consumidor ACL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531EF5-C6A4-4AD0-9461-D9A1F242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41A9A8-E77B-43DD-9588-067D9D4B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Adapter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2B73BF-3145-4D5E-88B6-1E52423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DDD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547085-278F-48E8-97CC-551AEA34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API corporativa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392D28-714B-448F-8D1E-3E10A049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017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Mais componentes • maior latência potencial • logs distribuídos • operação e escalabilidade separadas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66CA58-B9AD-48FB-8EA3-096EC206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86400"/>
            <a:ext cx="10820400" cy="638175"/>
          </a:xfrm>
          <a:prstGeom xmlns:a="http://schemas.openxmlformats.org/drawingml/2006/main" prst="roundRect">
            <a:avLst>
              <a:gd name="adj" fmla="val 23881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E5BDB9-D525-4989-BD30-FDE9BBC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7989F4-DD6E-40FC-BABE-192567B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19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29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Governança deve vir de contratos, observabilidade e guardrails — não da quantidade de camadas.</a:t>
            </a:r>
          </a:p>
        </p:txBody>
      </p:sp>
    </p:spTree>
    <p:extLst>
      <p:ext uri="{BB962C8B-B14F-4D97-AF65-F5344CB8AC3E}">
        <p14:creationId xmlns:p14="http://schemas.microsoft.com/office/powerpoint/2010/main" val="1478142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BA12A3-E8C2-4099-BB22-CDDF8066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bac389e4948b5">
            <a:extLst>
              <a:ext uri="{96DAC541-7B7A-43D3-8B79-37D633B846F1}">
                <asvg:svgBlip xmlns:asvg="http://schemas.microsoft.com/office/drawing/2016/SVG/main" r:embed="Re139f48597164f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3700C-6BFA-426E-AAA7-F9A02A6B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6537E-74D1-4A5B-8171-B577647C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4283B-84FE-4DA0-8D5E-C86B1C8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703BE-E57E-473B-AF7D-59EC325B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Princípio arquitetural: simples quando pode; ACL quando precisa.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2B623-91F2-4873-B5D7-D07E9AC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534025" y="2590800"/>
            <a:ext cx="952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15D4E-CD2D-4E7A-ADCE-7F3E9AC5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590800"/>
            <a:ext cx="952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D3CE4-7248-4175-A3CA-55358B1B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1905000"/>
            <a:ext cx="3143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660099"/>
          </a:solidFill>
          <a:ln xmlns:a="http://schemas.openxmlformats.org/drawingml/2006/main" w="14288">
            <a:solidFill>
              <a:srgbClr val="6600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CCAD6-0EFB-46FB-8123-87822219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812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Há necessidade real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mediação?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ABED8-2336-4F96-9C7B-8E89F174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669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3CE20-82A7-40C8-BDF2-41136DB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476500"/>
            <a:ext cx="31432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14288">
            <a:solidFill>
              <a:srgbClr val="ADD5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E0CC2-08E8-4E38-89F9-63533374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REST direto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via conector genérico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68096-6D59-43C8-AE06-0D71E16A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7DAED-F2ED-42C0-BEF8-27876E0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Contrato adequado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6A1A3-4A3C-473D-A060-CEF4B7CA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862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integração já expõe o que a jornada precisa.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FB21B-85D2-4165-BC71-2CC8E0F9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F8A5C-D450-4590-8DCF-F1F211B2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Interação síncrona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FA98E-B61A-44C2-A773-B433B91B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672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necessidade é chamada e resposta.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758D2-9837-4DF9-84A1-AFE1913A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DB5BD-8668-4AC6-B43C-DA92DBF6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5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Sem mediação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D40CE-39DC-4315-BA18-251EAF9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483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Não há composição, transformação ou isolamento.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9DEBD-D434-4D25-8A31-75A852A8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669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SIM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595B1-3D3E-4DB3-958F-54E6A2B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476500"/>
            <a:ext cx="31432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26006-3606-4614-84D4-4EA24BB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ACL com responsabilidade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explícita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D870F5-92B7-4846-9759-3AFA08BE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235B3-F058-4C21-B72E-59053B1B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Transformar ou compor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6F14B-85F6-4254-9091-40C5447E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862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Payloads, contratos ou múltiplos sistemas.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624E8-69F0-4588-ACD7-D709A96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BD8B8-B68B-48ED-A7A3-9C404B2E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Isolar instabilidade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59ACE-4112-447A-9680-F5615E6A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Legado ou fronteira com alta volatilidade.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28C60F-7646-4E4A-BE4B-8FA7A1B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49CE25-2223-43A4-B635-3B3D629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5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Centralizar governança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3B5A37-976F-49EC-82F3-A145558F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483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Padrão corporativo com ganho verificável.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28AD4-3421-4445-8BAF-E0F3BE1C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3686175"/>
            <a:ext cx="3124200" cy="2066925"/>
          </a:xfrm>
          <a:prstGeom xmlns:a="http://schemas.openxmlformats.org/drawingml/2006/main" prst="roundRect">
            <a:avLst>
              <a:gd name="adj" fmla="val 921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C4462-A570-4B31-AFAF-35CB105C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338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Guardrails comuns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9C8607-4A10-4379-9033-5AA6778D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19600"/>
            <a:ext cx="2514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Contratos versionados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Observabilidade ponta a ponta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Timeout, retry e tratamento de erro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Segurança e auditoria</a:t>
            </a:r>
          </a:p>
        </p:txBody>
      </p:sp>
    </p:spTree>
    <p:extLst>
      <p:ext uri="{BB962C8B-B14F-4D97-AF65-F5344CB8AC3E}">
        <p14:creationId xmlns:p14="http://schemas.microsoft.com/office/powerpoint/2010/main" val="1509125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017DC2-7B03-4EE9-B0D2-ABC278A2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5bb1661104bd3">
            <a:extLst>
              <a:ext uri="{96DAC541-7B7A-43D3-8B79-37D633B846F1}">
                <asvg:svgBlip xmlns:asvg="http://schemas.microsoft.com/office/drawing/2016/SVG/main" r:embed="R46bbe95ddb7d41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59C02-E450-4759-8904-43F4745D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7FCFD-0B09-44EC-8F51-AE00B86E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0AD04-1259-4FA2-8EB8-2870337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2817B-4CD9-4095-A272-9015422D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TO BE: uma plataforma comum separa experiência, orquestração e integração.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B55E7-605D-4C4E-B466-19F3BCF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REST síncrono é o caminho principal; eventos entram quando a natureza da necessidade é assíncrona.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EC91-E942-4A74-942C-A67EB5AD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321945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FC154-F604-40FB-858E-30A05D7A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219450"/>
            <a:ext cx="514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36074-6A40-4BB0-BA20-607C26A1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952750"/>
            <a:ext cx="914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A3631-54F6-4E7C-89AB-825B8AC0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4476750"/>
            <a:ext cx="914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8C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DF306-886A-4E55-8ED1-CD643FCC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CANAIS DIGITAIS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F5A58-2EAA-47D3-B592-AB8F0A94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33362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9BB39-ED9C-4EBB-9304-E772E564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54AB3-CBFC-4D79-9D9D-678FA7F8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03847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7432A-F8B4-48FB-91A2-2A3A8A11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4A9C6-D20D-490E-92B3-FADA739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74332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1CA05-E85E-464C-A19C-2B535A5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8BD48-807E-4CF0-82BD-EDABEE60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44817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00FFA-9A4A-4C0C-849E-C8EF35B9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17777-7695-447F-954E-455297BD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526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ADAPTAÇÃO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1FA16-7552-4ADA-A095-15BF5271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2705100"/>
            <a:ext cx="1314450" cy="137160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DDDD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2FCAF-62A9-4192-B955-C956211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1300"/>
            <a:ext cx="11239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BFF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opcional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90FE5-6E0A-4574-839B-0A06E0C3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38625"/>
            <a:ext cx="1181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Autenticação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Sessão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Adaptação por canal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A455C9-0946-45DA-B9C0-44B21D8B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1952625"/>
            <a:ext cx="4362450" cy="35718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C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6AE93-7E1F-457D-AB95-B74DE205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1952625"/>
            <a:ext cx="4362450" cy="666750"/>
          </a:xfrm>
          <a:prstGeom xmlns:a="http://schemas.openxmlformats.org/drawingml/2006/main" prst="roundRect">
            <a:avLst>
              <a:gd name="adj" fmla="val 34286"/>
            </a:avLst>
          </a:prstGeom>
          <a:gradFill xmlns:a="http://schemas.openxmlformats.org/drawingml/2006/main">
            <a:gsLst>
              <a:gs pos="0">
                <a:srgbClr val="461E5F"/>
              </a:gs>
              <a:gs pos="100000">
                <a:srgbClr val="660099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EBC04-1CD4-4BB2-94FD-9D042191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381250"/>
            <a:ext cx="4362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BBF2A3-89FC-4CD8-9420-DF3C0B71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85975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D588E-D055-4301-8F0C-64136B9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DESIGN 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F1133-3AD7-4917-8B9B-BC6DD35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752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Jornadas visuais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Formulários SDUI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 e versões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Publicação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D7FCBC-3B50-435D-983B-C8A8DEA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2809875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5EE6B-3FE8-4B76-AC86-1531DD9E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670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2EE8ED-93E8-4F1A-8F1E-0C2E61B2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1752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Execução de jornadas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Service / User Tasks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Conectores REST / Kafka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 e tratamento de erros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9A37F-468E-4986-B68C-C3A470AC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781550"/>
            <a:ext cx="38862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937C7B-EBC4-4D33-9132-71791CE4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0537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97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61E5F"/>
                </a:solidFill>
                <a:latin typeface="Arial"/>
                <a:ea typeface="Arial"/>
                <a:cs typeface="Arial"/>
              </a:rPr>
              <a:t>Governança • Segurança • Auditoria • Observabilidade • Escala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94A0FE-C8A7-4B08-8CCA-804FB892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SISTEMAS CORPORATIVOS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DCD7D9-FF4F-408F-8EB3-61BD694F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305050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5C5DEA-5BAC-4ECD-9D9D-36E7EA73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6FD712-56E9-42F2-AE01-C134B5CA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924175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0556F5-B2B7-465F-9F27-B0BF1DCC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003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ERP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5720E3-3286-4FE5-A0AC-30D1CBAE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543300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35A140-D86C-448E-8B40-F90FD51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195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D1B2A2-0A27-47E7-A6F0-7622BEB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4162425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A1C18D-0793-4730-9FC6-6C4C2EA1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3862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8740DF-EE09-4022-8BD8-297F23E6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4781550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DB64E4-BC61-46C7-8F38-05B5402B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57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Legado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DF4560-8ECA-44E5-9D7A-D06496D4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431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REST / JSON</a:t>
            </a:r>
          </a:p>
          <a:p xmlns:a="http://schemas.openxmlformats.org/drawingml/2006/main">
            <a:pPr algn="ctr">
              <a:defRPr sz="12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SÍNCRONO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D4849A-B861-4F6A-B01A-CB4DB7E6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862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EVENTOS</a:t>
            </a:r>
          </a:p>
          <a:p xmlns:a="http://schemas.openxmlformats.org/drawingml/2006/main">
            <a:pPr algn="ctr">
              <a:defRPr sz="12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OPCIONAL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658530-CD93-43A9-88B7-205725A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819775"/>
            <a:ext cx="108204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03538D-DCC2-4CEC-AF18-E71DF7A7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40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definição de jornada e experiência pode ser reutilizada em diferentes canais, preservando variações onde elas realmente importam.</a:t>
            </a:r>
          </a:p>
        </p:txBody>
      </p:sp>
    </p:spTree>
    <p:extLst>
      <p:ext uri="{BB962C8B-B14F-4D97-AF65-F5344CB8AC3E}">
        <p14:creationId xmlns:p14="http://schemas.microsoft.com/office/powerpoint/2010/main" val="819087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DD6E74-8C53-4DE2-A215-D69ABAF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48c8d6b294bbf">
            <a:extLst>
              <a:ext uri="{96DAC541-7B7A-43D3-8B79-37D633B846F1}">
                <asvg:svgBlip xmlns:asvg="http://schemas.microsoft.com/office/drawing/2016/SVG/main" r:embed="R912323b2fd574a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DA24D-4953-438A-90D8-CC779D21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E2522-26F2-4D3F-8B47-C7DE5DC4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0AA09-25C3-4ED7-90E2-760DD077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DD9D3-E805-48B1-83C4-9DA4833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 valor aparece em ciclos de aprendizado menores.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DAA5C-9BF8-4D2A-BD48-2EF7FED5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plataforma reduz o esforço entre uma hipótese de negócio e a evidência necessária para evoluí-la.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44297-1D6A-4C55-8E14-6F68879D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2819400"/>
            <a:ext cx="533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0E8A0-4ADC-482C-A35F-61A5B58F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19400"/>
            <a:ext cx="533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C181-5F56-4370-929E-C65DBAC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819400"/>
            <a:ext cx="533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3591C-B93A-4850-98DA-72899BF7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819400"/>
            <a:ext cx="533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13E4A-C988-4501-912D-E28013E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981200" y="4781550"/>
            <a:ext cx="826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70C15-BA8D-41F4-9420-4D8187E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3FA91-BF94-408E-A25A-3DE7F112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3146E-E132-4CDD-9B14-18D6C18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B3D7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B3D7D"/>
                </a:solidFill>
                <a:latin typeface="Arial"/>
                <a:ea typeface="Arial"/>
                <a:cs typeface="Arial"/>
              </a:rPr>
              <a:t>Idear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D2EBE-E8DF-485E-B7B5-09E497E8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Escolher a hipótese e o resultado esperado.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EBAF0-0976-45EF-9EAF-55A6DFFF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9B148-9F30-470A-9328-45E33D89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E9680-9114-4362-AB6F-F89A1D4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Modelar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C5DE3-9CE2-4730-B135-6C2F4B99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Configurar fluxo, regras e experiência SDUI.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2DEE5-8257-4D88-9D70-446DE6B9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3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217C7-98EB-4B65-961E-F1C1B0C1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82B29-0F42-474D-AD17-915E50CA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BEEE8-B0E7-441B-BF3C-EF23343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Congelar versão e snapshot auditável.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2728A-0FE5-4758-BDB4-5CFEE842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E6518-C607-4011-BFCB-814DF243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D64E4-412E-4268-ADFC-AE19CEE2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ABD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BDB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3016B-748C-4674-BAD5-66ED13CF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Executar, observar e coletar evidências.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AE134-35DC-4D7E-BB6B-D8F8FEAE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E5A05F-30B1-47CE-88ED-69941B51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5C3957-D7B7-4DA9-95C5-68368DA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Evoluir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5AFFB-F69E-4717-ACC9-94E43B3C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Ajustar a jornada sem romper a versão ativa.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B228C-0132-411D-A776-B3D5AE01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291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APRENDER E RECOMEÇAR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14F5B-7BCE-4952-AAF9-E4F1B4A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48300"/>
            <a:ext cx="108204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5D3C88-8DD5-4239-9847-FB35DE95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O efeito para o negócio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658967-FB85-4870-9272-197B71A2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72125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menos dependências  •  validar cedo  •  reutilizar ativos  •  evoluir com segurança</a:t>
            </a:r>
          </a:p>
        </p:txBody>
      </p:sp>
    </p:spTree>
    <p:extLst>
      <p:ext uri="{BB962C8B-B14F-4D97-AF65-F5344CB8AC3E}">
        <p14:creationId xmlns:p14="http://schemas.microsoft.com/office/powerpoint/2010/main" val="814249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A9029-DDFD-4EF5-8810-AF974B3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04d21b4cd4d2f">
            <a:extLst>
              <a:ext uri="{96DAC541-7B7A-43D3-8B79-37D633B846F1}">
                <asvg:svgBlip xmlns:asvg="http://schemas.microsoft.com/office/drawing/2016/SVG/main" r:embed="R3e71335f15404e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29D62-8DC9-4B29-9948-2DD767D6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9040B-A8B3-4249-B2E8-3A0A630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8E0CA-E830-4113-B846-0C8CEAB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D5C31-C815-43CC-8A7F-6CF8616A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 núcleo funcional já está comprovado; industrialização é o gap.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FE963-83E7-42B5-8F8A-A5F5FC9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progresso é alto, mas está concentrado nas capacidades de produto — não nos gates de produção.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666750" y="1924050"/>
          <a:ext xmlns:a="http://schemas.openxmlformats.org/drawingml/2006/main" cx="3143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8ae50b61b7461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C1AB0-2A29-4FBC-8011-EB9B3DAE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71775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F0604-6C65-4C67-9E8F-9599327E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480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335 de 371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requisitos concluídos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EBEEC-E331-4D2F-9747-1CBADDCF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0 bloqueados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3FD5F-2E28-488C-8B40-60408BAE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193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Núcleo da plataforma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06F9C-821A-40A4-9E4F-E94B71AF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193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253 / 255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8697A-C4F1-4D8D-926D-5BCC07AA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99%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D6290-845C-4BED-B542-3B37EA6E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581275"/>
            <a:ext cx="6038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CF47B-6D35-4E2C-86CA-D7D2C96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581275"/>
            <a:ext cx="597846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32BB9-886C-4A7C-984E-E04F1B1C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603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Produtos, canais, jornadas, modelagem, SDUI, execução e versionamento.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0D36D-5F94-4857-81BF-A1F62977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Governança &amp; operação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B4A51-DF14-42C5-A363-4D56A242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82 / 86 aplicáveis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8DE0F-E6A3-4B70-97BF-E8649D37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43275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ABD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BDB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2E130-EC9C-4F1B-AAF0-C30A7F0F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733800"/>
            <a:ext cx="6038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6DC95-3E1D-4EBA-92C6-D08E7115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733800"/>
            <a:ext cx="573690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FECB8-BA5C-4D8D-851A-3B6D1AD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71925"/>
            <a:ext cx="603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Autorização, auditoria, ajuda, observabilidade e dashboard.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9BDE9-3616-46EE-88CA-ADEC5FAB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Industrialização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670B6-D3E7-4EE2-81D6-546C768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 / 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6195A3-05E6-495D-8BCE-5A98F281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9580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99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90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194A7-5C04-4BC5-A3A7-77E5766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886325"/>
            <a:ext cx="6038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4AAE1-6F96-4A6F-825F-6320E3A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603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Testes automatizados e infraestrutura de produção.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14EDC3-549B-474E-B412-7E70629C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054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30BC9-0990-4016-ADFD-9E0A0742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Verificação local em 20/08/2026: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D2517-62F9-494B-A2A9-3F0004D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front-end build OK  •  back-end Maven verify OK  •  nenhum teste automatizado encontrado</a:t>
            </a:r>
          </a:p>
        </p:txBody>
      </p:sp>
    </p:spTree>
    <p:extLst>
      <p:ext uri="{BB962C8B-B14F-4D97-AF65-F5344CB8AC3E}">
        <p14:creationId xmlns:p14="http://schemas.microsoft.com/office/powerpoint/2010/main" val="743212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C0947B-55CF-4BE5-85E8-3714EB11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fb0741bd14c82">
            <a:extLst>
              <a:ext uri="{96DAC541-7B7A-43D3-8B79-37D633B846F1}">
                <asvg:svgBlip xmlns:asvg="http://schemas.microsoft.com/office/drawing/2016/SVG/main" r:embed="Rcb6d996d6bb040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BD34F-D201-427D-8234-56833D7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008C6-34F2-4BC5-9F37-CEB5DC8F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1513F-2A61-4363-9E8E-7F1971EA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13D91-B17E-468A-8C47-532F65A0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Prontidão funcional alta; industrialização deliberadamente pendente.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BA82E-501E-445A-9D1E-85F810C4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724025"/>
            <a:ext cx="5219700" cy="4010025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9525">
            <a:solidFill>
              <a:srgbClr val="C7E6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DF492-F37B-4602-92E1-68B068D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1724025"/>
            <a:ext cx="5219700" cy="4010025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FFEFE1"/>
          </a:solidFill>
          <a:ln xmlns:a="http://schemas.openxmlformats.org/drawingml/2006/main" w="9525">
            <a:solidFill>
              <a:srgbClr val="FFD6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B43EE-75B2-4DD0-AB15-8E3DDD68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COMPROVADO NO PRODUTO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4AEA0-971B-4FD0-AF97-3ACCD55A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DDB38-0FD1-4826-AD21-A01C6E8B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8B9B9-5422-4557-A6BC-3ADD994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Modelagem visual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8B075-8F1B-47DE-A8A2-00CFC458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REST, Kafka, gateway, variáveis e anotações.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B6A9A-DA6C-438F-8D8E-51F82D1C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29401-CAD5-451C-8389-D194064A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26F58-EA49-4660-A2AF-6D37F840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Experiência SDUI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F1CBF-CE58-4863-8201-61AFF928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Formulários reutilizáveis e snapshot imutável.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8894D-C266-4CA7-8D84-8B01669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6F22D-DA7A-44B1-B595-5BB69529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4E79D-DA8C-43C9-8E1E-27DA94A7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Ciclo de vida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0FBC5-8C5E-4210-B9C7-B6AD521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57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Versões, publicação, despublicação e auditoria.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1DAD3-3883-47C7-A26F-A5F6DDAF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71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3538A-22CE-4F89-A229-DB4F4830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1F00A-48DF-4B7B-BCE4-9B4FBF1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Execução real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22818-5FBF-4B65-8097-69C3B06E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053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Runtime, Kafka real, tratamento de falhas e dashboard.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E0B0F-7D58-4684-9E16-BE27C993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81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73FC1-0A5E-4513-8703-B12DCCCE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92A41-665C-4BB6-9650-0B141475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Integridade técnica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2BEDD-7630-4095-9FA3-3B6B1C2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149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Front e back compilam com sucesso.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E47949-912C-4A23-821F-22090B6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GATES ANTES DA ESCALA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22DB2-2F7C-42D4-B27E-F0263774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73E85-F4F7-4BE7-93C6-ECD3B663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20E13-0A9B-4CBB-BF99-BC7DC7A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Testes automatizados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87C39F-8E21-4043-918F-CBD3216C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Unitário, integração, front e E2E (0/12).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C0CFD8-BD46-4C66-B2FC-5A077968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4B7FA-0C2D-4366-9970-60FCFE2F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804722-DDFF-4CB1-AD75-97A861E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Plataforma de entrega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05F97D-D72E-48D9-8EA8-826579E4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Docker, Kubernetes, CI/CD e Azure (0/16 done).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21DC6F-8245-4CBA-9CE6-BB2A07C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A83D6C-52B0-44CA-BD11-CED5E5DD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DD9978-95CC-4091-A0CF-53E5E86E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95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Identidade real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E36A1F-786A-43F5-A475-8A938967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957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8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Substituir o provedor mock e fechar administração de acesso.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09028F-ACCC-4E19-9BDE-8354D2E3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71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B770A2-4A8E-4F40-BCBF-7124A4A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8E363B-1979-40ED-9584-D90391C5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Integrações-alvo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CB0446-B64C-453E-BFD9-541E3069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053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Contrato final de runtime e cenários REST reais de negócio.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299AAB-AAB0-4D4E-B2A4-102EE121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F159A7-74FC-43EA-BF86-31EE950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0A8E0D-52CD-423D-9E5B-5F00FD6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Observabilidade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7EF647-03EB-4B74-A609-D004C22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Conectar o ponto de extensão ao ambiente ELK.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A2664C-1523-4684-AA91-407E20E9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924550"/>
            <a:ext cx="87630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C43CD7-43A2-4E20-B7CB-19AE35FD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7217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0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Recomendação: avançar para piloto controlado somente após fechar um conjunto mínimo de gates técnicos.</a:t>
            </a:r>
          </a:p>
        </p:txBody>
      </p:sp>
    </p:spTree>
    <p:extLst>
      <p:ext uri="{BB962C8B-B14F-4D97-AF65-F5344CB8AC3E}">
        <p14:creationId xmlns:p14="http://schemas.microsoft.com/office/powerpoint/2010/main" val="6619262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C3157B-15B8-4538-B440-02B2AFDD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049392e59407e">
            <a:extLst>
              <a:ext uri="{96DAC541-7B7A-43D3-8B79-37D633B846F1}">
                <asvg:svgBlip xmlns:asvg="http://schemas.microsoft.com/office/drawing/2016/SVG/main" r:embed="R61ca7009dc5b46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6F109-DAFC-4F56-B2B0-DA473EC2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66E40-1E6E-4D63-87DC-25DE2B5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0C8A8-F6AD-4849-ACE6-8E0428AE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BDCBA-F0D8-47FE-9FB4-84BB2DA7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Sequenciamento recomendado: endurecer → pilotar → escalar.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223AC-5D3A-42E3-B940-8F3BB8FF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ordem reduz risco antes de ampliar alcance e protege o princípio de simplicidade.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19083-BA7C-4F83-BF4E-3E566092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285750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6CF89-B653-4772-9FD5-66CDE2F7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4775" y="285750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024EC-23EB-4490-91E3-D31EFBF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840E0-5812-4618-9685-2D5131E5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351C0-8E64-44E6-A065-F46E8B6D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Endurecer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0EAE4-85D8-4D9A-9FAA-AD8F9FE4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Transformar prova funcional em release repetível.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C391B-631A-4D23-9D50-20A6461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66C8B-9210-442C-A3C8-C4B813AF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C0606-58C9-409E-8580-47D46040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Testes e critérios de qualidade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BD3AB-1E6C-4AC2-A720-E7199AEE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67F7C-8E52-4F81-BB02-E0E32D2B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Docker / Kubernetes / CI/CD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1918F-A967-46FE-B5F6-059CF86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E3011-9040-4BA2-9EFD-948D1336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Ambientes, IdP e contrato de 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93813-C326-40CB-8DEE-1F6C622A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76900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6600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27811-1474-41CD-924A-BDC3205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Gate: pipeline reproduzível + cenários críticos automatizados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59BBC-FCC1-4831-9577-0FA442C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240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34159-CE77-4EF8-BA25-B9F8446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D3814-12B4-4BED-A451-1B8BA540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B3D7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B3D7D"/>
                </a:solidFill>
                <a:latin typeface="Arial"/>
                <a:ea typeface="Arial"/>
                <a:cs typeface="Arial"/>
              </a:rPr>
              <a:t>Pilotar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E5708-439E-4C33-A4C1-B771D650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Validar valor em uma jornada relevante e controlada.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BFEA4-950B-4C48-9FC6-DE89012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4000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53D00-B589-42AA-9807-6EA6A3E3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C6BAD-BA46-42B6-9691-445F66E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00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Um caso de negócio com dono executivo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C9E27F-CB9D-40FD-988F-894FB69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138A4-295D-4496-A83C-C176E140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244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Dois canais para provar reuso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8A10B-1B9A-4759-86B6-32C63862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D646BE-E3A4-419B-9055-67CF4AA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387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Baseline de prazo, retrabalho e incidentes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C8941-252D-4826-BF5D-05FC8E55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5676900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9525">
            <a:solidFill>
              <a:srgbClr val="EB3D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7D1F85-74A6-4F99-ACF3-CF76374C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B3D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B3D7D"/>
                </a:solidFill>
                <a:latin typeface="Arial"/>
                <a:ea typeface="Arial"/>
                <a:cs typeface="Arial"/>
              </a:rPr>
              <a:t>Gate: evidência de valor + riscos operacionais conhecidos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9497FC-5C0F-437A-BF85-EA56D30A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240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9B0E5C-42F6-43EA-B4AC-C987D37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F4329-A0CC-480B-8346-931D91DC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Escalar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65AF4D-3359-420A-8CAD-454A6C14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623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Converter o aprendizado do piloto em capacidade corporativa.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8D31F3-988B-42FB-A132-B98C8450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4000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3A7504-07D7-4E3B-BCDF-2396D024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2D311C-2997-4FDE-831A-5EC41247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Catálogo e padrões reutilizáveis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35473D-3B1E-481D-A513-D15D0E14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471979-4E38-4064-ACE5-795AB731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244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SLOs, observabilidade e sustentação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0A3E9A-DC29-4065-97B0-A8FB50A4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76E909-0933-478F-9F44-FABA93B8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387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Governança leve e adoção por produto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4B30B4-F9FB-480F-AD08-2D4718A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5676900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9525">
            <a:solidFill>
              <a:srgbClr val="225C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297E5E-287A-41CC-B551-1D471892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5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Gate: modelo operacional e capacidade de suporte aprovados</a:t>
            </a:r>
          </a:p>
        </p:txBody>
      </p:sp>
    </p:spTree>
    <p:extLst>
      <p:ext uri="{BB962C8B-B14F-4D97-AF65-F5344CB8AC3E}">
        <p14:creationId xmlns:p14="http://schemas.microsoft.com/office/powerpoint/2010/main" val="9163774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c7285b8474be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0D325-EAA7-4FF6-8ED4-8487CFFE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90510">
                  <a:alpha val="96000"/>
                </a:srgbClr>
              </a:gs>
              <a:gs pos="60000">
                <a:srgbClr val="21052D">
                  <a:alpha val="70000"/>
                </a:srgbClr>
              </a:gs>
              <a:gs pos="100000">
                <a:srgbClr val="090510">
                  <a:alpha val="1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7fdb9869a4c23">
            <a:extLst>
              <a:ext uri="{96DAC541-7B7A-43D3-8B79-37D633B846F1}">
                <asvg:svgBlip xmlns:asvg="http://schemas.microsoft.com/office/drawing/2016/SVG/main" r:embed="R7147e474f74d47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191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FBCE5-ED15-48E7-8E5A-A65B9CAC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DECISÃO EXECUTIVA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EB254-E4CD-4322-A1AD-F27F0FFB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001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Proteger a simplicidade.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Financiar a industrialização.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D690E-4B8E-42CE-B236-FCD88595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B041-0B1E-4C3D-982E-055A819E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8533E-D760-4A38-8259-4F813F9F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7182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Endossar o princípio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85D93-B045-4D80-A624-2CF2B078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DD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DDEF"/>
                </a:solidFill>
                <a:latin typeface="Arial"/>
                <a:ea typeface="Arial"/>
                <a:cs typeface="Arial"/>
              </a:rPr>
              <a:t>REST por padrão; ACL por exceção justificada.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09831-F985-43CA-A12B-A8F1B831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06BB7-3A69-4BE9-98FE-A1B8B2A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B2F30-51D3-4056-B47C-D3465C57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Priorizar os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4CFFB-9B2C-4AB7-89C3-6F2AEA1E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DD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DDEF"/>
                </a:solidFill>
                <a:latin typeface="Arial"/>
                <a:ea typeface="Arial"/>
                <a:cs typeface="Arial"/>
              </a:rPr>
              <a:t>Testes, infraestrutura, identidade e contratos.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EC885-69D0-4CC7-AB32-FBB7E325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6967E-F0B6-41E4-B392-3CFE0C7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3AF0E-D2DD-4E98-8760-16F23FB9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81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Patrocinar um piloto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C0C3A-6250-4A5F-B06A-80E9AA7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DD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DDEF"/>
                </a:solidFill>
                <a:latin typeface="Arial"/>
                <a:ea typeface="Arial"/>
                <a:cs typeface="Arial"/>
              </a:rPr>
              <a:t>Caso de negócio, dono e métrica de valor explícitos.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1CE86-8C22-4C29-A852-3EB2523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8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plataforma já demonstra o caminho. O próximo investimento a transforma em capacidade corporativa.</a:t>
            </a:r>
          </a:p>
        </p:txBody>
      </p:sp>
    </p:spTree>
    <p:extLst>
      <p:ext uri="{BB962C8B-B14F-4D97-AF65-F5344CB8AC3E}">
        <p14:creationId xmlns:p14="http://schemas.microsoft.com/office/powerpoint/2010/main" val="4094858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ED4BB-CD49-4955-9634-00ACCA18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APÊNDICE TÉCNICO • ARTEFATO ORIGINAL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b829454ad4578">
            <a:extLst>
              <a:ext uri="{96DAC541-7B7A-43D3-8B79-37D633B846F1}">
                <asvg:svgBlip xmlns:asvg="http://schemas.microsoft.com/office/drawing/2016/SVG/main" r:embed="R6fa56e08fb9540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0" y="1428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1C8C0-E02F-4464-A995-3C298421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AS IS e visão consolidada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24BAA-AEF5-4061-9D20-D8B6E79A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066800"/>
            <a:ext cx="11334750" cy="52863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e6e4403524142"/>
          <a:stretch xmlns:a="http://schemas.openxmlformats.org/drawingml/2006/main"/>
        </p:blipFill>
        <p:spPr>
          <a:xfrm xmlns:a="http://schemas.openxmlformats.org/drawingml/2006/main">
            <a:off x="2288381" y="1171575"/>
            <a:ext cx="7615238" cy="5076825"/>
          </a:xfrm>
          <a:prstGeom xmlns:a="http://schemas.openxmlformats.org/drawingml/2006/main" prst="roundRect">
            <a:avLst>
              <a:gd name="adj" fmla="val 187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A62BC-C143-4F95-8EAB-2647ECCE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8997350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A5022-D2AA-4F1E-B329-6964B22B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APÊNDICE TÉCNICO • ARTEFATO ORIGINAL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83817d547475c">
            <a:extLst>
              <a:ext uri="{96DAC541-7B7A-43D3-8B79-37D633B846F1}">
                <asvg:svgBlip xmlns:asvg="http://schemas.microsoft.com/office/drawing/2016/SVG/main" r:embed="R29a87e36e9844f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0" y="1428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38B5D-FA57-4769-BECE-D6F98E82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REST direto × ACL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7C516-1C3B-4969-A71A-58F3D906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066800"/>
            <a:ext cx="11334750" cy="52863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299faaf5a4a56"/>
          <a:stretch xmlns:a="http://schemas.openxmlformats.org/drawingml/2006/main"/>
        </p:blipFill>
        <p:spPr>
          <a:xfrm xmlns:a="http://schemas.openxmlformats.org/drawingml/2006/main">
            <a:off x="2288381" y="1171575"/>
            <a:ext cx="7615238" cy="5076825"/>
          </a:xfrm>
          <a:prstGeom xmlns:a="http://schemas.openxmlformats.org/drawingml/2006/main" prst="roundRect">
            <a:avLst>
              <a:gd name="adj" fmla="val 187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E399F-92D8-4AC9-8366-D570E6E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515549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B6BC5-C196-476F-A097-CC4D949B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APÊNDICE TÉCNICO • ARTEFATO ORIGINAL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cec7ea44e4e01">
            <a:extLst>
              <a:ext uri="{96DAC541-7B7A-43D3-8B79-37D633B846F1}">
                <asvg:svgBlip xmlns:asvg="http://schemas.microsoft.com/office/drawing/2016/SVG/main" r:embed="R9ea00946556547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0" y="1428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F206C-B5DB-4E71-A9A6-EFD45CF9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Arquitetura atual com ACL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B3DE-3383-4F5E-AAE6-F977C4F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066800"/>
            <a:ext cx="11334750" cy="52863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c83898aed4f95"/>
          <a:stretch xmlns:a="http://schemas.openxmlformats.org/drawingml/2006/main"/>
        </p:blipFill>
        <p:spPr>
          <a:xfrm xmlns:a="http://schemas.openxmlformats.org/drawingml/2006/main">
            <a:off x="1019175" y="1171575"/>
            <a:ext cx="10153650" cy="5076825"/>
          </a:xfrm>
          <a:prstGeom xmlns:a="http://schemas.openxmlformats.org/drawingml/2006/main" prst="roundRect">
            <a:avLst>
              <a:gd name="adj" fmla="val 187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E64C3-4A1E-4EEE-8DD0-E3E8846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</p:spTree>
    <p:extLst>
      <p:ext uri="{BB962C8B-B14F-4D97-AF65-F5344CB8AC3E}">
        <p14:creationId xmlns:p14="http://schemas.microsoft.com/office/powerpoint/2010/main" val="1645249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58E47-86C4-4B61-AA09-FC27A67D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APÊNDICE TÉCNICO • ARTEFATO ORIGINAL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7938804704ac1">
            <a:extLst>
              <a:ext uri="{96DAC541-7B7A-43D3-8B79-37D633B846F1}">
                <asvg:svgBlip xmlns:asvg="http://schemas.microsoft.com/office/drawing/2016/SVG/main" r:embed="R8629fc857d434a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0" y="1428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95174-A56E-4461-AFC0-8F415A4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Arquitetura TO 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CF603-5BDD-4820-A4D4-CE0BEE9A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066800"/>
            <a:ext cx="11334750" cy="52863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c413c36284657"/>
          <a:stretch xmlns:a="http://schemas.openxmlformats.org/drawingml/2006/main"/>
        </p:blipFill>
        <p:spPr>
          <a:xfrm xmlns:a="http://schemas.openxmlformats.org/drawingml/2006/main">
            <a:off x="2288381" y="1171575"/>
            <a:ext cx="7615238" cy="5076825"/>
          </a:xfrm>
          <a:prstGeom xmlns:a="http://schemas.openxmlformats.org/drawingml/2006/main" prst="roundRect">
            <a:avLst>
              <a:gd name="adj" fmla="val 187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C51E2-B032-42EF-9AA7-812637FD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</p:spTree>
    <p:extLst>
      <p:ext uri="{BB962C8B-B14F-4D97-AF65-F5344CB8AC3E}">
        <p14:creationId xmlns:p14="http://schemas.microsoft.com/office/powerpoint/2010/main" val="1215655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2026-08-20T03:33:24.0620000Z</dcterms:created>
  <dcterms:modified xsi:type="dcterms:W3CDTF">2026-08-20T03:33:24.0620000Z</dcterms:modified>
</coreProperties>
</file>