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bafd6849b64aa9" /><Relationship Type="http://schemas.openxmlformats.org/officeDocument/2006/relationships/extended-properties" Target="/docProps/app.xml" Id="R88cff3b5463f4601" /><Relationship Type="http://schemas.openxmlformats.org/officeDocument/2006/relationships/officeDocument" Target="/ppt/presentation.xml" Id="Rf61a8fa385584d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307872794d4749"/>
  </p:sldMasterIdLst>
  <p:notesMasterIdLst>
    <p:notesMasterId xmlns:r="http://schemas.openxmlformats.org/officeDocument/2006/relationships" r:id="R1611b2958ece40ec"/>
  </p:notesMasterIdLst>
  <p:sldIdLst>
    <p:sldId xmlns:r="http://schemas.openxmlformats.org/officeDocument/2006/relationships" id="256" r:id="Rb1f2a4b0b28f4d69"/>
    <p:sldId xmlns:r="http://schemas.openxmlformats.org/officeDocument/2006/relationships" id="257" r:id="Rb3ffbf4c71ea47c3"/>
    <p:sldId xmlns:r="http://schemas.openxmlformats.org/officeDocument/2006/relationships" id="258" r:id="R72450adb645643af"/>
    <p:sldId xmlns:r="http://schemas.openxmlformats.org/officeDocument/2006/relationships" id="259" r:id="R82eb0f35fe6d48f5"/>
    <p:sldId xmlns:r="http://schemas.openxmlformats.org/officeDocument/2006/relationships" id="260" r:id="R87f2def35c2d47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34c7fe181140d8" /><Relationship Type="http://schemas.openxmlformats.org/officeDocument/2006/relationships/slideMaster" Target="/ppt/slideMasters/slideMaster1.xml" Id="Rf3307872794d4749" /><Relationship Type="http://schemas.openxmlformats.org/officeDocument/2006/relationships/notesMaster" Target="/ppt/notesMasters/notesMaster1.xml" Id="R1611b2958ece40ec" /><Relationship Type="http://schemas.openxmlformats.org/officeDocument/2006/relationships/presProps" Target="/ppt/presProps.xml" Id="Rd6d175aa6bcc46b4" /><Relationship Type="http://schemas.openxmlformats.org/officeDocument/2006/relationships/tableStyles" Target="/ppt/tableStyles.xml" Id="Rb52777cb24744c49" /><Relationship Type="http://schemas.openxmlformats.org/officeDocument/2006/relationships/slide" Target="/ppt/slides/slide1.xml" Id="Rb1f2a4b0b28f4d69" /><Relationship Type="http://schemas.openxmlformats.org/officeDocument/2006/relationships/slide" Target="/ppt/slides/slide2.xml" Id="Rb3ffbf4c71ea47c3" /><Relationship Type="http://schemas.openxmlformats.org/officeDocument/2006/relationships/slide" Target="/ppt/slides/slide3.xml" Id="R72450adb645643af" /><Relationship Type="http://schemas.openxmlformats.org/officeDocument/2006/relationships/slide" Target="/ppt/slides/slide4.xml" Id="R82eb0f35fe6d48f5" /><Relationship Type="http://schemas.openxmlformats.org/officeDocument/2006/relationships/slide" Target="/ppt/slides/slide5.xml" Id="R87f2def35c2d47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4df16619c641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687325dd1d49a4" /><Relationship Type="http://schemas.openxmlformats.org/officeDocument/2006/relationships/notesMaster" Target="/ppt/notesMasters/notesMaster1.xml" Id="R9fcfada7ff9944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39dd6aaead4930" /><Relationship Type="http://schemas.openxmlformats.org/officeDocument/2006/relationships/notesMaster" Target="/ppt/notesMasters/notesMaster1.xml" Id="R1e441ab03ef34e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3ec3d7487b4fd7" /><Relationship Type="http://schemas.openxmlformats.org/officeDocument/2006/relationships/notesMaster" Target="/ppt/notesMasters/notesMaster1.xml" Id="Rf727c5e5c25545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e7f30091e54f87" /><Relationship Type="http://schemas.openxmlformats.org/officeDocument/2006/relationships/notesMaster" Target="/ppt/notesMasters/notesMaster1.xml" Id="Rb7ef944af4a342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98ca61635b4133" /><Relationship Type="http://schemas.openxmlformats.org/officeDocument/2006/relationships/notesMaster" Target="/ppt/notesMasters/notesMaster1.xml" Id="R89a435ebc1e543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minuto. Abra pela decisão de negócio: ganhar velocidade para criar e evoluir jornadas digitais sem repetir lógica e operação em cada canal. Não entre em detalhes técnicos ainda. Termine com a pergunta: como simplificar sem perder controle?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Mística Vivo Evolution palette: front/node_modules/@telefonica/mistica/src/skins/vivo-evolution.tsx</a:t>
            </a:r>
          </a:p>
          <a:p xmlns:a="http://schemas.openxmlformats.org/drawingml/2006/main">
            <a:r>
              <a:t>- Mística Vivo logo source: front/node_modules/@telefonica/mistica/src/logo-vivo.tsx</a:t>
            </a:r>
          </a:p>
          <a:p xmlns:a="http://schemas.openxmlformats.org/drawingml/2006/main">
            <a:r>
              <a:t>- Generated background prompt: abstract converging digital journey ribbons; built-in image generation; no text or logo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 minutos. Mostre que o problema não é ter vários canais. O problema é repetir, em cada um, orquestração, regras, estado, telas e integração. Uma mudança simples passa a exigir coordenação em vários lugares. Feche com a consequência: mais tempo para lançar, maior custo e experiências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as is.png</a:t>
            </a:r>
          </a:p>
          <a:p xmlns:a="http://schemas.openxmlformats.org/drawingml/2006/main">
            <a:r>
              <a:t>- requisitos/admin/ej-admin-index.md — papel do Admin Portal e cardinalidade por canal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 minutos. Explique que a ACL não está sendo eliminada. Ela continua útil quando a integração precisa transformar dados, combinar sistemas ou isolar instabilidade. Para chamadas REST simples, o conector genérico evita serviços e pontos de falha desnecessários. A regra que precisa ficar na memória é: REST por padrão; ACL quando houver uma necessidade clara.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comparativo.png — seção 'Quando a ACL faz sentido'</a:t>
            </a:r>
          </a:p>
          <a:p xmlns:a="http://schemas.openxmlformats.org/drawingml/2006/main">
            <a:r>
              <a:t>- User-provided image: over.png — recomendação</a:t>
            </a:r>
          </a:p>
          <a:p xmlns:a="http://schemas.openxmlformats.org/drawingml/2006/main">
            <a:r>
              <a:t>- requisitos/admin/ej-admin-arquitetura-logica.md — framework de conectores e fronteira com runtime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 minutos. Percorra o desenho da esquerda para a direita. Os canais apresentam a experiência; o BFF é opcional; o Elastic Journey configura e executa; os sistemas corporativos continuam protegidos por contratos. REST é o caminho principal e eventos são uma opção para necessidades assíncronas. Feche com o valor: a mesma jornada pode atender vários canais com mais reuso e consistência.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tobe.png</a:t>
            </a:r>
          </a:p>
          <a:p xmlns:a="http://schemas.openxmlformats.org/drawingml/2006/main">
            <a:r>
              <a:t>- User-provided image: as is.png — visão consolidada Elastic Journey + SDUI</a:t>
            </a:r>
          </a:p>
          <a:p xmlns:a="http://schemas.openxmlformats.org/drawingml/2006/main">
            <a:r>
              <a:t>- requisitos/admin/ej-admin-arquitetura-logica.md — domínios, publicação, execução e fronteira com runtime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 minutos. Mostre que 90% dos requisitos estão concluídos e não há requisitos bloqueados. O trabalho restante está concentrado em testes, ambientes, identidade e contratos. Termine com três decisões: confirmar REST por padrão, priorizar a base de produção e patrocinar um piloto com uma jornada, dois canais, responsável e medidas de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user-provided AS IS / comparison / overengineering / TO BE artifacts</a:t>
            </a:r>
          </a:p>
          <a:p xmlns:a="http://schemas.openxmlformats.org/drawingml/2006/main">
            <a:r>
              <a:t>- requisitos/admin/progresso.md and ej-admin-arquitetura-logica.md</a:t>
            </a:r>
          </a:p>
          <a:p xmlns:a="http://schemas.openxmlformats.org/drawingml/2006/main">
            <a:r>
              <a:t>- Generated background reused from slide 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eab78eded44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204bb8f2a44008" /><Relationship Type="http://schemas.openxmlformats.org/officeDocument/2006/relationships/slideLayout" Target="/ppt/slideLayouts/slideLayout1.xml" Id="Rad3b2b384a2e4a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3b2b384a2e4a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ddb557e634bca" /><Relationship Type="http://schemas.openxmlformats.org/officeDocument/2006/relationships/image" Target="/ppt/media/image.png" Id="R62cc2f12b4744158" /><Relationship Type="http://schemas.openxmlformats.org/officeDocument/2006/relationships/image" Target="/ppt/media/image.svg" Id="Ref9e3ddf7eab4d98" /><Relationship Type="http://schemas.openxmlformats.org/officeDocument/2006/relationships/notesSlide" Target="/ppt/notesSlides/notesSlide1.xml" Id="R7774129a06014a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54a41e6864025" /><Relationship Type="http://schemas.openxmlformats.org/officeDocument/2006/relationships/image" Target="/ppt/media/image2.png" Id="R672cf6c5ed824a28" /><Relationship Type="http://schemas.openxmlformats.org/officeDocument/2006/relationships/image" Target="/ppt/media/image2.svg" Id="R5a11e49963174f83" /><Relationship Type="http://schemas.openxmlformats.org/officeDocument/2006/relationships/notesSlide" Target="/ppt/notesSlides/notesSlide2.xml" Id="R73d9943492d14a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7ea60cf454ab1" /><Relationship Type="http://schemas.openxmlformats.org/officeDocument/2006/relationships/image" Target="/ppt/media/image3.png" Id="Rbbc2dfcff37642f6" /><Relationship Type="http://schemas.openxmlformats.org/officeDocument/2006/relationships/image" Target="/ppt/media/image3.svg" Id="R2be1a831e438493e" /><Relationship Type="http://schemas.openxmlformats.org/officeDocument/2006/relationships/notesSlide" Target="/ppt/notesSlides/notesSlide3.xml" Id="Re89d5862bf4c49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12506d5ec4fcb" /><Relationship Type="http://schemas.openxmlformats.org/officeDocument/2006/relationships/image" Target="/ppt/media/image4.png" Id="R81b3854bc6f84ec3" /><Relationship Type="http://schemas.openxmlformats.org/officeDocument/2006/relationships/image" Target="/ppt/media/image4.svg" Id="R83b6bc229cd14398" /><Relationship Type="http://schemas.openxmlformats.org/officeDocument/2006/relationships/notesSlide" Target="/ppt/notesSlides/notesSlide4.xml" Id="R21ff53db3e7545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87054cf74492d" /><Relationship Type="http://schemas.openxmlformats.org/officeDocument/2006/relationships/image" Target="/ppt/media/image5.png" Id="Rf5d8f586d02043f0" /><Relationship Type="http://schemas.openxmlformats.org/officeDocument/2006/relationships/image" Target="/ppt/media/image5.svg" Id="R3517344a33474f21" /><Relationship Type="http://schemas.openxmlformats.org/officeDocument/2006/relationships/notesSlide" Target="/ppt/notesSlides/notesSlide5.xml" Id="Rc3c033e8e4764e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c2f12b47441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C7922-9682-477F-833C-CE2F60D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90510">
                  <a:alpha val="94000"/>
                </a:srgbClr>
              </a:gs>
              <a:gs pos="58000">
                <a:srgbClr val="170522">
                  <a:alpha val="48000"/>
                </a:srgbClr>
              </a:gs>
              <a:gs pos="100000">
                <a:srgbClr val="090510">
                  <a:alpha val="16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c2f12b4744158">
            <a:extLst>
              <a:ext uri="{96DAC541-7B7A-43D3-8B79-37D633B846F1}">
                <asvg:svgBlip xmlns:asvg="http://schemas.microsoft.com/office/drawing/2016/SVG/main" r:embed="Ref9e3ddf7eab4d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B5CB1-1C9B-45DD-AFBB-0F01795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4C305-0698-4861-93C0-2C61C88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4EAA5-6686-4748-8714-8EDFE6E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33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Menos complexidade.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velocidade para inovar.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D1C4D-B3A5-4345-B814-260FF06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4958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A4D6B-900D-4C60-B90C-B95D2306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3EA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EAF8"/>
                </a:solidFill>
                <a:latin typeface="Arial"/>
                <a:ea typeface="Arial"/>
                <a:cs typeface="Arial"/>
              </a:rPr>
              <a:t>A decisão, o valor e o caminho até o piloto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73498-3EF4-4290-A4B5-1A5AC57E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CCD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CDE5"/>
                </a:solidFill>
                <a:latin typeface="Arial"/>
                <a:ea typeface="Arial"/>
                <a:cs typeface="Arial"/>
              </a:rPr>
              <a:t>20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661018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BB2805-D1BF-4A8D-81B3-BB023206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cf6c5ed824a28">
            <a:extLst>
              <a:ext uri="{96DAC541-7B7A-43D3-8B79-37D633B846F1}">
                <asvg:svgBlip xmlns:asvg="http://schemas.microsoft.com/office/drawing/2016/SVG/main" r:embed="R5a11e49963174f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D418F-7585-49EA-B772-D825414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F9CF9-BFA1-4180-B7D9-8E54B3C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5BA8D-16D4-499D-935E-66B253D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6200B-F56A-4053-96C6-1094E9E6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Hoje, cada novo canal replica a operação inteira.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1CD9E-41A5-4655-B8DC-5896ECF3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escala adiciona alcance — e também duplica lógica, manutenção e risco.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AA9F8-38F3-469D-B76A-7E6E730A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D783-048F-4128-9505-C6AF655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8BF2E-CF3E-4023-A6ED-7A546650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A7303-FB65-4BAC-A049-7609EDF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B46C9-C06B-4E38-8F5F-FF74600E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E0C58-FA7F-418D-ADD9-69EF9A32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72029-0EB6-4D73-80CC-A5841245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22159-7AEB-4733-B1E2-9D6A17BF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13957-AD0C-449E-924A-1416DCCD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0BF71-FC1B-4FF3-BF33-E799B61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38D02-01CA-44B4-972D-D6DD1C56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0BAB8-6D46-422D-8D41-9EF07A8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98AFF-3146-4344-B0B1-9E9DDAFA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191D4-98EE-4C0E-AACC-D222E533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14F56-987B-492D-B518-A159E164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3BCAB-12F8-4C58-9D2C-565899A4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79D1A-4910-475C-B083-EEA490C5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Portal Web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0F24F-AE6F-4D72-B200-C17F9CD5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4CB99-FDFC-4AEE-92D4-C8B6BB8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4D66A-BD76-4E56-A527-F1551EFA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354F3-4EE5-4365-94D2-ED92026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70DF95-EEE6-4ECA-A02D-12889C45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FECE1-58B6-49CF-910D-23A313E8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1BBC7C-8B44-486A-B759-6717811E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C5291-05D6-4276-994D-54BF715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3A3C7B-DDC6-4088-8031-2CC17F2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015BE-0DB8-40A7-B81A-0BDE655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3F831D-0556-4BD6-A93B-0794BA04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ED066-6CB2-4BF9-BC0C-CCE48C4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72731B-AA28-4115-92D2-2528166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B5ED8-BCB4-46D2-97D5-2473CE34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9FFDD0-8FEC-4660-BCC5-0199B425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05345-9528-4FF2-A118-0774E25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6EC13E-A86C-4D89-97AF-649D3601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DB5B83-6C6A-4CC0-BD63-CC236E5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8F03EF-4790-43DE-BE5D-E6C516A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BBD526-58D6-485B-B468-5240D918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58FBC1-1492-4A47-AB84-CEE1933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B8AB82-D831-4743-ADCF-9FA9FD7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0F7596-D588-4EA4-83C7-5F1445DF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1435BD-CE7E-4CAD-8A20-1FF017A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74DD8E-1CDE-4789-918A-104981C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FEC4A4-B8B5-4FCE-A284-7991228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97BA91-EFFF-476F-8FBE-D05BF04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4DC71A-3BA2-4340-AE3D-103833A2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PDV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39681F-4C7C-4481-83BB-210E73BB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EF7EED-4F19-4B48-A412-57038AFE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52BF8D-1A03-4837-8ED4-7CB2B02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FF326B-13CF-4526-8C3C-72146EBD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6440BE-72B2-4E88-A6C9-0EEE2C7F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8FDEC9-8160-409F-BFE1-DFE325CE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A2C1EA-D877-413F-80A7-5B33C3E2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B689BB-9B69-4546-8ACC-600469C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07282E-40E8-4279-9EFA-A25A9478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D000B7-8C36-40DA-93C1-E7848937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CA67C6-CA45-49CA-A1DA-BFADF69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B5B0E0-DCCF-4335-B0C0-DA6A4EF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549C92-755E-4BFF-8083-122DA4C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4B265A-9ED3-4BF9-9372-CBBAB2A4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4AEFFC-7EBA-4F29-BDD4-65299B99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460D42-44CB-439D-8F72-4005EE95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0D7E55-76C9-4D14-AF62-FBF1B910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1633CE-EFAD-44B3-AB3E-73446A61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114279-3C5B-42EA-B6BD-AEF0AEEB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2E8C02-B3E1-4E45-BBCC-91002CF0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B71038-DB40-49A9-8899-0542C2C3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851193-A87B-441D-A4A4-7AE1475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444608-77F4-43A0-A77D-25FB7B35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132158-2C25-4447-BDF8-515EAC41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1A9082-7BC7-41CD-961A-C4A37732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AF6868-DAC7-4652-9928-BB722B2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038725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60F82F-E4AC-4D7F-A509-56E24A00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Sistemas corporativos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BBFBE75-212D-492C-8ABD-1F581DE8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E8E8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8E8"/>
                </a:solidFill>
                <a:latin typeface="Arial"/>
                <a:ea typeface="Arial"/>
                <a:cs typeface="Arial"/>
              </a:rPr>
              <a:t>CRM     ERP     Billing     Catálogo     Legado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C9D09B-6E76-4EAB-ABC9-1EC8FD88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Uma mudança de jornada se multiplica por canal.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B79A85-123D-4518-BD66-83C9D5D3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38825"/>
            <a:ext cx="569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mais tempo para lançar  •  custo maior  •  experiências diferentes  •  menos energia para inovar</a:t>
            </a:r>
          </a:p>
        </p:txBody>
      </p:sp>
    </p:spTree>
    <p:extLst>
      <p:ext uri="{BB962C8B-B14F-4D97-AF65-F5344CB8AC3E}">
        <p14:creationId xmlns:p14="http://schemas.microsoft.com/office/powerpoint/2010/main" val="778032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BA12A3-E8C2-4099-BB22-CDDF8066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2dfcff37642f6">
            <a:extLst>
              <a:ext uri="{96DAC541-7B7A-43D3-8B79-37D633B846F1}">
                <asvg:svgBlip xmlns:asvg="http://schemas.microsoft.com/office/drawing/2016/SVG/main" r:embed="R2be1a831e43849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3700C-6BFA-426E-AAA7-F9A02A6B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6537E-74D1-4A5B-8171-B577647C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4283B-84FE-4DA0-8D5E-C86B1C8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703BE-E57E-473B-AF7D-59EC325B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 regra é simples: REST por padrão; ACL quando houver uma necessidade clara.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2B623-91F2-4873-B5D7-D07E9AC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534025" y="2590800"/>
            <a:ext cx="952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15D4E-CD2D-4E7A-ADCE-7F3E9AC5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590800"/>
            <a:ext cx="952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D3CE4-7248-4175-A3CA-55358B1B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1905000"/>
            <a:ext cx="3143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660099"/>
          </a:solidFill>
          <a:ln xmlns:a="http://schemas.openxmlformats.org/drawingml/2006/main" w="14288">
            <a:solidFill>
              <a:srgbClr val="6600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CCAD6-0EFB-46FB-8123-87822219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812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integração precisa transformar,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combinar ou isolar?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ABED8-2336-4F96-9C7B-8E89F174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669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3CE20-82A7-40C8-BDF2-41136DB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476500"/>
            <a:ext cx="31432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14288">
            <a:solidFill>
              <a:srgbClr val="ADD5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E0CC2-08E8-4E38-89F9-63533374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REST direto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via conector genérico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68096-6D59-43C8-AE06-0D71E16A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7DAED-F2ED-42C0-BEF8-27876E0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Contrato suficiente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6A1A3-4A3C-473D-A060-CEF4B7CA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862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API já entrega o que a jornada precisa.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FB21B-85D2-4165-BC71-2CC8E0F9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F8A5C-D450-4590-8DCF-F1F211B2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Chamada e resposta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FA98E-B61A-44C2-A773-B433B91B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672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fluxo é síncrono e direto.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758D2-9837-4DF9-84A1-AFE1913A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DB5BD-8668-4AC6-B43C-DA92DBF6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5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Sem adaptação extra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D40CE-39DC-4315-BA18-251EAF9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483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Não há combinação, transformação ou isolamento.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9DEBD-D434-4D25-8A31-75A852A8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669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SIM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595B1-3D3E-4DB3-958F-54E6A2B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476500"/>
            <a:ext cx="31432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14288">
            <a:solidFill>
              <a:srgbClr val="F0A5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26006-3606-4614-84D4-4EA24BB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ACL com papel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B71D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D63"/>
                </a:solidFill>
                <a:latin typeface="Arial"/>
                <a:ea typeface="Arial"/>
                <a:cs typeface="Arial"/>
              </a:rPr>
              <a:t>bem definido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D870F5-92B7-4846-9759-3AFA08BE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235B3-F058-4C21-B72E-59053B1B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Transformar ou combinar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6F14B-85F6-4254-9091-40C5447E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862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Ajustar dados, contratos ou reunir sistemas.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624E8-69F0-4588-ACD7-D709A96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BD8B8-B68B-48ED-A7A3-9C404B2E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Proteger do legado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59ACE-4112-447A-9680-F5615E6A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Isolar instabilidade ou mudanças frequentes.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28C60F-7646-4E4A-BE4B-8FA7A1B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49CE25-2223-43A4-B635-3B3D629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5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Seguir padrão corporativo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3B5A37-976F-49EC-82F3-A145558F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483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Somente quando houver um ganho claro.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28AD4-3421-4445-8BAF-E0F3BE1C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3686175"/>
            <a:ext cx="3124200" cy="2066925"/>
          </a:xfrm>
          <a:prstGeom xmlns:a="http://schemas.openxmlformats.org/drawingml/2006/main" prst="roundRect">
            <a:avLst>
              <a:gd name="adj" fmla="val 9217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C4462-A570-4B31-AFAF-35CB105C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338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6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Regras para os dois caminhos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9C8607-4A10-4379-9033-5AA6778D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19600"/>
            <a:ext cx="2514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Contratos versionados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Rastreabilidade ponta a ponta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Limites de tempo e novas tentativas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Segurança e auditoria</a:t>
            </a:r>
          </a:p>
        </p:txBody>
      </p:sp>
    </p:spTree>
    <p:extLst>
      <p:ext uri="{BB962C8B-B14F-4D97-AF65-F5344CB8AC3E}">
        <p14:creationId xmlns:p14="http://schemas.microsoft.com/office/powerpoint/2010/main" val="1509125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017DC2-7B03-4EE9-B0D2-ABC278A2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3854bc6f84ec3">
            <a:extLst>
              <a:ext uri="{96DAC541-7B7A-43D3-8B79-37D633B846F1}">
                <asvg:svgBlip xmlns:asvg="http://schemas.microsoft.com/office/drawing/2016/SVG/main" r:embed="R83b6bc229cd143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59C02-E450-4759-8904-43F4745D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7FCFD-0B09-44EC-8F51-AE00B86E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0AD04-1259-4FA2-8EB8-2870337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2817B-4CD9-4095-A272-9015422D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No modelo proposto, cada parte faz o que sabe fazer melhor.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B55E7-605D-4C4E-B466-19F3BCF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REST é o caminho principal. Eventos são usados somente quando a necessidade for assíncrona.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EC91-E942-4A74-942C-A67EB5AD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321945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FC154-F604-40FB-858E-30A05D7A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219450"/>
            <a:ext cx="514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36074-6A40-4BB0-BA20-607C26A1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952750"/>
            <a:ext cx="914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A3631-54F6-4E7C-89AB-825B8AC0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4476750"/>
            <a:ext cx="914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8C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DF306-886A-4E55-8ED1-CD643FCC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CANAIS DIGITAIS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F5A58-2EAA-47D3-B592-AB8F0A94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33362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9BB39-ED9C-4EBB-9304-E772E564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54AB3-CBFC-4D79-9D9D-678FA7F8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03847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7432A-F8B4-48FB-91A2-2A3A8A11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4A9C6-D20D-490E-92B3-FADA739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74332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1CA05-E85E-464C-A19C-2B535A5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8BD48-807E-4CF0-82BD-EDABEE60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448175"/>
            <a:ext cx="14668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00FFA-9A4A-4C0C-849E-C8EF35B9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17777-7695-447F-954E-455297BD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526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ADAPTAÇÃO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1FA16-7552-4ADA-A095-15BF5271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2705100"/>
            <a:ext cx="1314450" cy="137160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14288">
            <a:solidFill>
              <a:srgbClr val="DDDD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2FCAF-62A9-4192-B955-C956211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1300"/>
            <a:ext cx="11239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BFF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opcional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90FE5-6E0A-4574-839B-0A06E0C3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38625"/>
            <a:ext cx="1181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Autenticação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Sessão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Adaptação por canal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A455C9-0946-45DA-B9C0-44B21D8B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1952625"/>
            <a:ext cx="4362450" cy="35718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CC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6AE93-7E1F-457D-AB95-B74DE205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1952625"/>
            <a:ext cx="4362450" cy="666750"/>
          </a:xfrm>
          <a:prstGeom xmlns:a="http://schemas.openxmlformats.org/drawingml/2006/main" prst="roundRect">
            <a:avLst>
              <a:gd name="adj" fmla="val 34286"/>
            </a:avLst>
          </a:prstGeom>
          <a:gradFill xmlns:a="http://schemas.openxmlformats.org/drawingml/2006/main">
            <a:gsLst>
              <a:gs pos="0">
                <a:srgbClr val="461E5F"/>
              </a:gs>
              <a:gs pos="100000">
                <a:srgbClr val="660099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EBC04-1CD4-4BB2-94FD-9D042191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381250"/>
            <a:ext cx="4362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BBF2A3-89FC-4CD8-9420-DF3C0B71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85975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D588E-D055-4301-8F0C-64136B9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CONFIGURAÇÃO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F1133-3AD7-4917-8B9B-BC6DD35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752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Jornadas visuais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Formulários SDUI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 e versões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Publicação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D7FCBC-3B50-435D-983B-C8A8DEA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2809875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5EE6B-3FE8-4B76-AC86-1531DD9E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670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2EE8ED-93E8-4F1A-8F1E-0C2E61B2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1752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Execução de jornadas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Service / User Tasks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Conectores REST / Kafka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 e tratamento de erros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9A37F-468E-4986-B68C-C3A470AC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781550"/>
            <a:ext cx="38862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937C7B-EBC4-4D33-9132-71791CE4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0537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9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61E5F"/>
                </a:solidFill>
                <a:latin typeface="Arial"/>
                <a:ea typeface="Arial"/>
                <a:cs typeface="Arial"/>
              </a:rPr>
              <a:t>Governança • Segurança • Auditoria • Observabilidade • Escala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94A0FE-C8A7-4B08-8CCA-804FB892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5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SISTEMAS CORPORATIVOS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DCD7D9-FF4F-408F-8EB3-61BD694F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305050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5C5DEA-5BAC-4ECD-9D9D-36E7EA73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6FD712-56E9-42F2-AE01-C134B5CA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924175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0556F5-B2B7-465F-9F27-B0BF1DCC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003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ERP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5720E3-3286-4FE5-A0AC-30D1CBAE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543300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35A140-D86C-448E-8B40-F90FD51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195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D1B2A2-0A27-47E7-A6F0-7622BEB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4162425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A1C18D-0793-4730-9FC6-6C4C2EA1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3862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8740DF-EE09-4022-8BD8-297F23E6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4781550"/>
            <a:ext cx="1600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CC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DB64E4-BC61-46C7-8F38-05B5402B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57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Legado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DF4560-8ECA-44E5-9D7A-D06496D4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4315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REST / JSON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SÍNCRONO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D4849A-B861-4F6A-B01A-CB4DB7E6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862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EVENTOS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OPCIONAL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658530-CD93-43A9-88B7-205725A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819775"/>
            <a:ext cx="108204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03538D-DCC2-4CEC-AF18-E71DF7A7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40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mesma jornada pode atender vários canais, sem apagar as diferenças que realmente importam para cada um.</a:t>
            </a:r>
          </a:p>
        </p:txBody>
      </p:sp>
    </p:spTree>
    <p:extLst>
      <p:ext uri="{BB962C8B-B14F-4D97-AF65-F5344CB8AC3E}">
        <p14:creationId xmlns:p14="http://schemas.microsoft.com/office/powerpoint/2010/main" val="8190879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8f586d02043f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0D325-EAA7-4FF6-8ED4-8487CFFE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90510">
                  <a:alpha val="96000"/>
                </a:srgbClr>
              </a:gs>
              <a:gs pos="60000">
                <a:srgbClr val="21052D">
                  <a:alpha val="70000"/>
                </a:srgbClr>
              </a:gs>
              <a:gs pos="100000">
                <a:srgbClr val="090510">
                  <a:alpha val="1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8f586d02043f0">
            <a:extLst>
              <a:ext uri="{96DAC541-7B7A-43D3-8B79-37D633B846F1}">
                <asvg:svgBlip xmlns:asvg="http://schemas.microsoft.com/office/drawing/2016/SVG/main" r:embed="R3517344a33474f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191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FBCE5-ED15-48E7-8E5A-A65B9CAC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DECISÃO EXECUTIVA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EB254-E4CD-4322-A1AD-F27F0FFB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001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solução funciona.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próximo passo é preparar o piloto.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D690E-4B8E-42CE-B236-FCD88595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B041-0B1E-4C3D-982E-055A819E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8533E-D760-4A38-8259-4F813F9F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7182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90% concluído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85D93-B045-4D80-A624-2CF2B078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ADD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DDEF"/>
                </a:solidFill>
                <a:latin typeface="Arial"/>
                <a:ea typeface="Arial"/>
                <a:cs typeface="Arial"/>
              </a:rPr>
              <a:t>Núcleo da solução quase pronto; nenhum requisito bloqueado.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09831-F985-43CA-A12B-A8F1B831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06BB7-3A69-4BE9-98FE-A1B8B2A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B2F30-51D3-4056-B47C-D3465C57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Priorizar o essencial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4CFFB-9B2C-4AB7-89C3-6F2AEA1E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ADD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DDEF"/>
                </a:solidFill>
                <a:latin typeface="Arial"/>
                <a:ea typeface="Arial"/>
                <a:cs typeface="Arial"/>
              </a:rPr>
              <a:t>Testes, ambientes, identidade e contratos.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EC885-69D0-4CC7-AB32-FBB7E325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6967E-F0B6-41E4-B392-3CFE0C7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3AF0E-D2DD-4E98-8760-16F23FB9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81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Patrocinar o piloto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C0C3A-6250-4A5F-B06A-80E9AA7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ADDE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ADDEF"/>
                </a:solidFill>
                <a:latin typeface="Arial"/>
                <a:ea typeface="Arial"/>
                <a:cs typeface="Arial"/>
              </a:rPr>
              <a:t>Uma jornada, dois canais, responsável e medidas de valor.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1CE86-8C22-4C29-A852-3EB2523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decisão: confirmar REST por padrão, concluir a base de produção e preparar o piloto.</a:t>
            </a:r>
          </a:p>
        </p:txBody>
      </p:sp>
    </p:spTree>
    <p:extLst>
      <p:ext uri="{BB962C8B-B14F-4D97-AF65-F5344CB8AC3E}">
        <p14:creationId xmlns:p14="http://schemas.microsoft.com/office/powerpoint/2010/main" val="409485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2026-08-20T04:12:56.1200000Z</dcterms:created>
  <dcterms:modified xsi:type="dcterms:W3CDTF">2026-08-20T04:12:56.1200000Z</dcterms:modified>
</coreProperties>
</file>