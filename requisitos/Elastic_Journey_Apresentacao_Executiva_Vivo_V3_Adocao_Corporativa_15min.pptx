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2b710e01e74421" /><Relationship Type="http://schemas.openxmlformats.org/officeDocument/2006/relationships/extended-properties" Target="/docProps/app.xml" Id="R9e6b31c0fb724a0b" /><Relationship Type="http://schemas.openxmlformats.org/officeDocument/2006/relationships/officeDocument" Target="/ppt/presentation.xml" Id="Ra1cb5967cb2246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43fab8364c46de"/>
  </p:sldMasterIdLst>
  <p:notesMasterIdLst>
    <p:notesMasterId xmlns:r="http://schemas.openxmlformats.org/officeDocument/2006/relationships" r:id="Rf3c5188090774d4c"/>
  </p:notesMasterIdLst>
  <p:sldIdLst>
    <p:sldId xmlns:r="http://schemas.openxmlformats.org/officeDocument/2006/relationships" id="256" r:id="R73b310e54d944443"/>
    <p:sldId xmlns:r="http://schemas.openxmlformats.org/officeDocument/2006/relationships" id="257" r:id="R0cf73962f41c46d7"/>
    <p:sldId xmlns:r="http://schemas.openxmlformats.org/officeDocument/2006/relationships" id="258" r:id="R198a15df187c41de"/>
    <p:sldId xmlns:r="http://schemas.openxmlformats.org/officeDocument/2006/relationships" id="259" r:id="Rd6f233afe270410e"/>
    <p:sldId xmlns:r="http://schemas.openxmlformats.org/officeDocument/2006/relationships" id="260" r:id="R6db3139348dc4e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2e60cdc0084bda" /><Relationship Type="http://schemas.openxmlformats.org/officeDocument/2006/relationships/slideMaster" Target="/ppt/slideMasters/slideMaster1.xml" Id="Rcb43fab8364c46de" /><Relationship Type="http://schemas.openxmlformats.org/officeDocument/2006/relationships/notesMaster" Target="/ppt/notesMasters/notesMaster1.xml" Id="Rf3c5188090774d4c" /><Relationship Type="http://schemas.openxmlformats.org/officeDocument/2006/relationships/presProps" Target="/ppt/presProps.xml" Id="R9fa9f5d3a0da48f8" /><Relationship Type="http://schemas.openxmlformats.org/officeDocument/2006/relationships/tableStyles" Target="/ppt/tableStyles.xml" Id="Ra121fd3e226b46a7" /><Relationship Type="http://schemas.openxmlformats.org/officeDocument/2006/relationships/slide" Target="/ppt/slides/slide1.xml" Id="R73b310e54d944443" /><Relationship Type="http://schemas.openxmlformats.org/officeDocument/2006/relationships/slide" Target="/ppt/slides/slide2.xml" Id="R0cf73962f41c46d7" /><Relationship Type="http://schemas.openxmlformats.org/officeDocument/2006/relationships/slide" Target="/ppt/slides/slide3.xml" Id="R198a15df187c41de" /><Relationship Type="http://schemas.openxmlformats.org/officeDocument/2006/relationships/slide" Target="/ppt/slides/slide4.xml" Id="Rd6f233afe270410e" /><Relationship Type="http://schemas.openxmlformats.org/officeDocument/2006/relationships/slide" Target="/ppt/slides/slide5.xml" Id="R6db3139348dc4e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8415bd8ba54f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e5c5c3d47e488b" /><Relationship Type="http://schemas.openxmlformats.org/officeDocument/2006/relationships/notesMaster" Target="/ppt/notesMasters/notesMaster1.xml" Id="R33bc4ae8b8a648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f076ef63034ac7" /><Relationship Type="http://schemas.openxmlformats.org/officeDocument/2006/relationships/notesMaster" Target="/ppt/notesMasters/notesMaster1.xml" Id="Rde8f635c5f0f42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bfe7511c764593" /><Relationship Type="http://schemas.openxmlformats.org/officeDocument/2006/relationships/notesMaster" Target="/ppt/notesMasters/notesMaster1.xml" Id="R78a293ab39a14c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1058036f4f454e" /><Relationship Type="http://schemas.openxmlformats.org/officeDocument/2006/relationships/notesMaster" Target="/ppt/notesMasters/notesMaster1.xml" Id="Rd3786b9a60eb4e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4e788d1a314af7" /><Relationship Type="http://schemas.openxmlformats.org/officeDocument/2006/relationships/notesMaster" Target="/ppt/notesMasters/notesMaster1.xml" Id="Rb3b299eb100d41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minuto. Abra pela tese, não pelo produto. Hoje a empresa financia partes semelhantes da jornada em cada canal. A recomendação é investir em uma capacidade comum para modelar, validar, executar e acompanhar jornadas. Isso reduz a distância entre uma ideia e uma evidência de negócio, mantendo controle e rastreabilidade.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Mística Vivo Evolution palette: front/node_modules/@telefonica/mistica/src/skins/vivo-evolution.tsx</a:t>
            </a:r>
          </a:p>
          <a:p xmlns:a="http://schemas.openxmlformats.org/drawingml/2006/main">
            <a:r>
              <a:t>- Mística Vivo logo source: front/node_modules/@telefonica/mistica/src/logo-vivo.tsx</a:t>
            </a:r>
          </a:p>
          <a:p xmlns:a="http://schemas.openxmlformats.org/drawingml/2006/main">
            <a:r>
              <a:t>- Generated background reused from the approved source deck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 minutos. O problema não é a quantidade de canais; é o que se repete em cada um. App, portal, WhatsApp, PDV e atendimento mantêm sua própria orquestração, regras, estado, telas e integração. Por isso, uma mudança de jornada se transforma em várias mudanças coordenadas. O efeito aparece no prazo, no esforço de manutenção e na consistência da experiência.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C:/Users/gonza/AppData/Local/Temp/as is.png</a:t>
            </a:r>
          </a:p>
          <a:p xmlns:a="http://schemas.openxmlformats.org/drawingml/2006/main">
            <a:r>
              <a:t>- requisitos/admin/ej-admin-index.md — papel do Admin Portal e associação de jornadas a produtos e canais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 minutos. Leia as duas colunas como uma mudança na lógica de investimento. Com a plataforma, o padrão de modelagem, execução, formulários, controle e acompanhamento passa a ser compartilhado. Sem ela, cada canal reconstrói e opera sua própria base. Não estamos prometendo um percentual de economia sem medição; estamos mostrando o mecanismo que permite reduzir repetição, antecipar a validação e escalar com mais previsibilidade.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images: as is.png and tobe.png</a:t>
            </a:r>
          </a:p>
          <a:p xmlns:a="http://schemas.openxmlformats.org/drawingml/2006/main">
            <a:r>
              <a:t>- requisitos/admin/ej-admin-requisitos.md — capacidades de modelagem, SDUI, execução, versionamento, auditoria e observabilidade</a:t>
            </a:r>
          </a:p>
          <a:p xmlns:a="http://schemas.openxmlformats.org/drawingml/2006/main">
            <a:r>
              <a:t>- requisitos/admin/ej-admin-arquitetura-logica.md — responsabilidades do Admin Portal e do runtime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 minutos. Esta é a prova de que a adoção não começa com uma ideia no papel. O registro oficial mostra 335 de 371 requisitos concluídos, ou 90%, sem requisitos bloqueados. O núcleo da solução está em 99% e governança e operação em 95%. A lacuna de 0 em 28 está concentrada em testes automatizados e infraestrutura de produção. Em outras palavras: o investimento funcional já está protegido; o próximo esforço é colocar a solução em condições corporativas de uso.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requisitos/admin/progresso.md — 335 done, 3 in_progress, 31 todo, 2 n/a, 0 blocked</a:t>
            </a:r>
          </a:p>
          <a:p xmlns:a="http://schemas.openxmlformats.org/drawingml/2006/main">
            <a:r>
              <a:t>- Calculation from progress table: FT-01..FT-06 = 253/255; FT-07..FT-10 + FT-13 = 82/86 applicable; FT-11..FT-12 = 0/28 done</a:t>
            </a:r>
          </a:p>
          <a:p xmlns:a="http://schemas.openxmlformats.org/drawingml/2006/main">
            <a:r>
              <a:t>- Local verification on 2026-08-20: front-end and back-end compile; automated test suites were not found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 minutos. Feche com uma recomendação clara: autorizar a adoção em três etapas. Primeiro, concluir o mínimo para operar com segurança. Depois, medir o impacto em uma jornada real atendida por dois canais, comparando o processo atual com a plataforma. As medidas são objetivas: tempo da ideia à validação, componentes reaproveitados, retrabalho e incidentes. A expansão só ocorre com evidência. A decisão solicitada é patrocinar esse caminho, indicar o caso de negócio e nomear o responsável pelo piloto.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requisitos/admin/progresso.md — lacunas de testes e infraestrutura</a:t>
            </a:r>
          </a:p>
          <a:p xmlns:a="http://schemas.openxmlformats.org/drawingml/2006/main">
            <a:r>
              <a:t>- User-provided tobe.png — valor esperado de velocidade, qualidade, controle e escala</a:t>
            </a:r>
          </a:p>
          <a:p xmlns:a="http://schemas.openxmlformats.org/drawingml/2006/main">
            <a:r>
              <a:t>- Recommendation synthesized from local project evidence; no savings or delivery dates were assumed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13c361d9543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ca81ed4dad44d3" /><Relationship Type="http://schemas.openxmlformats.org/officeDocument/2006/relationships/slideLayout" Target="/ppt/slideLayouts/slideLayout1.xml" Id="Rfdb33d6990be46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b33d6990be46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bd5116c034baf" /><Relationship Type="http://schemas.openxmlformats.org/officeDocument/2006/relationships/image" Target="/ppt/media/image.png" Id="R5acd6eeafd54487e" /><Relationship Type="http://schemas.openxmlformats.org/officeDocument/2006/relationships/image" Target="/ppt/media/image.svg" Id="Rfcc4865c723a44e3" /><Relationship Type="http://schemas.openxmlformats.org/officeDocument/2006/relationships/notesSlide" Target="/ppt/notesSlides/notesSlide1.xml" Id="Rac8bfa8771914d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73399a6ad47bc" /><Relationship Type="http://schemas.openxmlformats.org/officeDocument/2006/relationships/image" Target="/ppt/media/image2.png" Id="R9cf3ecb1dd544f3e" /><Relationship Type="http://schemas.openxmlformats.org/officeDocument/2006/relationships/image" Target="/ppt/media/image2.svg" Id="R49a66fc8d039413c" /><Relationship Type="http://schemas.openxmlformats.org/officeDocument/2006/relationships/notesSlide" Target="/ppt/notesSlides/notesSlide2.xml" Id="R01e91d02e4f744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b70a660534e72" /><Relationship Type="http://schemas.openxmlformats.org/officeDocument/2006/relationships/image" Target="/ppt/media/image3.png" Id="Ra9843df9d71342d8" /><Relationship Type="http://schemas.openxmlformats.org/officeDocument/2006/relationships/image" Target="/ppt/media/image3.svg" Id="R718bf25ac8dc4c30" /><Relationship Type="http://schemas.openxmlformats.org/officeDocument/2006/relationships/notesSlide" Target="/ppt/notesSlides/notesSlide3.xml" Id="Rbb789f9875774e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7ece18fe742b3" /><Relationship Type="http://schemas.openxmlformats.org/officeDocument/2006/relationships/image" Target="/ppt/media/image4.png" Id="Rc94a1430036340ce" /><Relationship Type="http://schemas.openxmlformats.org/officeDocument/2006/relationships/image" Target="/ppt/media/image4.svg" Id="Rbd173eeaf8c14aaf" /><Relationship Type="http://schemas.openxmlformats.org/officeDocument/2006/relationships/chart" Target="/ppt/slides/charts/chart1.xml" Id="Rd377486accef4af6" /><Relationship Type="http://schemas.openxmlformats.org/officeDocument/2006/relationships/notesSlide" Target="/ppt/notesSlides/notesSlide4.xml" Id="Rf9db4d8c1b5447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9559108df4cef" /><Relationship Type="http://schemas.openxmlformats.org/officeDocument/2006/relationships/image" Target="/ppt/media/image5.png" Id="R5222a7be2b49494c" /><Relationship Type="http://schemas.openxmlformats.org/officeDocument/2006/relationships/image" Target="/ppt/media/image5.svg" Id="R22e8a8b111a74d2f" /><Relationship Type="http://schemas.openxmlformats.org/officeDocument/2006/relationships/notesSlide" Target="/ppt/notesSlides/notesSlide5.xml" Id="Rca38894eab1a47f4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Requisitos</c:v>
          </c:tx>
          <c:dPt>
            <c:idx val="0"/>
            <c:spPr>
              <a:solidFill xmlns:a="http://schemas.openxmlformats.org/drawingml/2006/main">
                <a:srgbClr val="660099"/>
              </a:solidFill>
              <a:ln xmlns:a="http://schemas.openxmlformats.org/drawingml/2006/main" w="0">
                <a:solidFill>
                  <a:srgbClr val="660099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EEEEE"/>
              </a:solidFill>
              <a:ln xmlns:a="http://schemas.openxmlformats.org/drawingml/2006/main" w="0">
                <a:solidFill>
                  <a:srgbClr val="EEEEEE"/>
                </a:solidFill>
                <a:prstDash val="solid"/>
              </a:ln>
            </c:spPr>
          </c:dPt>
          <c:cat>
            <c:strLit>
              <c:ptCount val="2"/>
              <c:pt idx="0">
                <c:v>Concluídos</c:v>
              </c:pt>
              <c:pt idx="1">
                <c:v>Restantes</c:v>
              </c:pt>
            </c:strLit>
          </c:cat>
          <c:val>
            <c:numLit>
              <c:formatCode>General</c:formatCode>
              <c:ptCount val="2"/>
              <c:pt idx="0">
                <c:v>335</c:v>
              </c:pt>
              <c:pt idx="1">
                <c:v>36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d6eeafd54487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C7922-9682-477F-833C-CE2F60D7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90510">
                  <a:alpha val="94000"/>
                </a:srgbClr>
              </a:gs>
              <a:gs pos="58000">
                <a:srgbClr val="170522">
                  <a:alpha val="48000"/>
                </a:srgbClr>
              </a:gs>
              <a:gs pos="100000">
                <a:srgbClr val="090510">
                  <a:alpha val="16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d6eeafd54487e">
            <a:extLst>
              <a:ext uri="{96DAC541-7B7A-43D3-8B79-37D633B846F1}">
                <asvg:svgBlip xmlns:asvg="http://schemas.microsoft.com/office/drawing/2016/SVG/main" r:embed="Rfcc4865c723a44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4572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B5CB1-1C9B-45DD-AFBB-0F01795B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19125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ELASTIC JOURNEY • VISÃO EXECUTIVA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4C305-0698-4861-93C0-2C61C882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Elastic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4EAA5-6686-4748-8714-8EDFE6EA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63341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Uma base comum.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2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Mais velocidade para validar.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D1C4D-B3A5-4345-B814-260FF065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4495800"/>
            <a:ext cx="1276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CA4D6B-900D-4C60-B90C-B95D2306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3EAF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3EAF8"/>
                </a:solidFill>
                <a:latin typeface="Arial"/>
                <a:ea typeface="Arial"/>
                <a:cs typeface="Arial"/>
              </a:rPr>
              <a:t>Recomendação de adoção corporativa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73498-3EF4-4290-A4B5-1A5AC57E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2457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CCDE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CCDE5"/>
                </a:solidFill>
                <a:latin typeface="Arial"/>
                <a:ea typeface="Arial"/>
                <a:cs typeface="Arial"/>
              </a:rPr>
              <a:t>20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16610188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DBB2805-D1BF-4A8D-81B3-BB023206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433A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433AD"/>
                </a:solidFill>
                <a:latin typeface="Arial"/>
                <a:ea typeface="Arial"/>
                <a:cs typeface="Arial"/>
              </a:rPr>
              <a:t>ELASTIC JOURNEY • VISÃO EXECUTIVA</a:t>
            </a:r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3ecb1dd544f3e">
            <a:extLst>
              <a:ext uri="{96DAC541-7B7A-43D3-8B79-37D633B846F1}">
                <asvg:svgBlip xmlns:asvg="http://schemas.microsoft.com/office/drawing/2016/SVG/main" r:embed="R49a66fc8d03941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172825" y="1714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D418F-7585-49EA-B772-D8254141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648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F9CF9-BFA1-4180-B7D9-8E54B3CA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8A8C9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A8C90"/>
                </a:solidFill>
                <a:latin typeface="Arial"/>
                <a:ea typeface="Arial"/>
                <a:cs typeface="Arial"/>
              </a:rPr>
              <a:t>Elastic Journey • Admin Portal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5BA8D-16D4-499D-935E-66B253D3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6200B-F56A-4053-96C6-1094E9E6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1040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2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Hoje, cada novo canal replica a operação inteira.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1CD9E-41A5-4655-B8DC-5896ECF3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09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 escala adiciona alcance — e também duplica lógica, manutenção e risco.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AA9F8-38F3-469D-B76A-7E6E730A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19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3D783-048F-4128-9505-C6AF6558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383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8BF2E-CF3E-4023-A6ED-7A546650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050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A7303-FB65-4BAC-A049-7609EDF7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146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B46C9-C06B-4E38-8F5F-FF74600E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61E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61E5F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E0C58-FA7F-418D-ADD9-69EF9A32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28612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72029-0EB6-4D73-80CC-A5841245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242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22159-7AEB-4733-B1E2-9D6A17BF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5760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213957-AD0C-449E-924A-1416DCCD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F0BF71-FC1B-4FF3-BF33-E799B612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02907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A38D02-01CA-44B4-972D-D6DD1C56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671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Telas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50BAB8-6D46-422D-8D41-9EF07A83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4005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D98AFF-3146-4344-B0B1-9E9DDAFA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191D4-98EE-4C0E-AACC-D222E533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47720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1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214F56-987B-492D-B518-A159E164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019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B3BCAB-12F8-4C58-9D2C-565899A4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0383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579D1A-4910-475C-B083-EEA490C5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5050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Portal Web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B0F24F-AE6F-4D72-B200-C17F9CD5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025" y="29146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24CB99-FDFC-4AEE-92D4-C8B6BB8B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61E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61E5F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F4D66A-BD76-4E56-A527-F1551EFA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025" y="328612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7354F3-4EE5-4365-94D2-ED920265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3242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70DF95-EEE6-4ECA-A02D-12889C45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025" y="365760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6FECE1-58B6-49CF-910D-23A313E8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6957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1BBC7C-8B44-486A-B759-6717811E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025" y="402907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8C5291-05D6-4276-994D-54BF7152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0671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Telas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3A3C7B-DDC6-4088-8031-2CC17F2E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025" y="44005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F015BE-0DB8-40A7-B81A-0BDE655A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438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3F831D-0556-4BD6-A93B-0794BA04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47720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1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9ED066-6CB2-4BF9-BC0C-CCE48C4B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19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72731B-AA28-4115-92D2-2528166B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383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6B5ED8-BCB4-46D2-97D5-2473CE34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5050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WhatsApp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9FFDD0-8FEC-4660-BCC5-0199B425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9146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905345-9528-4FF2-A118-0774E25C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952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61E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61E5F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6EC13E-A86C-4D89-97AF-649D3601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28612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DB5B83-6C6A-4CC0-BD63-CC236E58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242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8F03EF-4790-43DE-BE5D-E6C516A4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65760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BBD526-58D6-485B-B468-5240D918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6957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58FBC1-1492-4A47-AB84-CEE1933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02907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B8AB82-D831-4743-ADCF-9FA9FD74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0671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Telas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0F7596-D588-4EA4-83C7-5F1445DF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4005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435BD-CE7E-4CAD-8A20-1FF017A1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438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74DD8E-1CDE-4789-918A-104981C5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47720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1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2FEC4A4-B8B5-4FCE-A284-7991228F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019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97BA91-EFFF-476F-8FBE-D05BF042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0383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94DC71A-3BA2-4340-AE3D-103833A2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050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PDV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239681F-4C7C-4481-83BB-210E73BB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3275" y="29146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EF7EED-4F19-4B48-A412-57038AFE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952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61E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61E5F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52BF8D-1A03-4837-8ED4-7CB2B02D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3275" y="328612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FF326B-13CF-4526-8C3C-72146EBD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3242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6440BE-72B2-4E88-A6C9-0EEE2C7F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3275" y="365760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8FDEC9-8160-409F-BFE1-DFE325CE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6957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A2C1EA-D877-413F-80A7-5B33C3E2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3275" y="402907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1B689BB-9B69-4546-8ACC-600469CE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0671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Telas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07282E-40E8-4279-9EFA-A25A9478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3275" y="44005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5D000B7-8C36-40DA-93C1-E7848937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38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BCA67C6-CA45-49CA-A1DA-BFADF69C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7720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1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B5B0E0-DCCF-4335-B0C0-DA6A4EFD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19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549C92-755E-4BFF-8083-122DA4C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383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24B265A-9ED3-4BF9-9372-CBBAB2A4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050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Atendimento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D4AEFFC-7EBA-4F29-BDD4-65299B9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29146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E0CCEB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E460D42-44CB-439D-8F72-4005EE95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461E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61E5F"/>
                </a:solidFill>
                <a:latin typeface="Arial"/>
                <a:ea typeface="Arial"/>
                <a:cs typeface="Arial"/>
              </a:rPr>
              <a:t>Orquestração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B0D7E55-76C9-4D14-AF62-FBF1B910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328612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1633CE-EFAD-44B3-AB3E-73446A61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242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E114279-3C5B-42EA-B6BD-AEF0AEEB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365760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22E8C02-B3E1-4E45-BBCC-91002CF0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957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AB71038-DB40-49A9-8899-0542C2C3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4029075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D851193-A87B-441D-A4A4-7AE1475D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671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Telas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444608-77F4-43A0-A77D-25FB7B35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4400550"/>
            <a:ext cx="1924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3132158-2C25-4447-BDF8-515EAC41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438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Integração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B1A9082-7BC7-41CD-961A-C4A37732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29850" y="4772025"/>
            <a:ext cx="57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1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EAF6868-DAC7-4652-9928-BB722B21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5038725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E60F82F-E4AC-4D7F-A509-56E24A00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81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Sistemas corporativos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BBFBE75-212D-492C-8ABD-1F581DE8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1816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 b="0">
                <a:solidFill>
                  <a:srgbClr val="E8E8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8E8E8"/>
                </a:solidFill>
                <a:latin typeface="Arial"/>
                <a:ea typeface="Arial"/>
                <a:cs typeface="Arial"/>
              </a:rPr>
              <a:t>CRM     ERP     Billing     Catálogo     Legado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DC9D09B-6E76-4EAB-ABC9-1EC8FD88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C1F5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C1F59"/>
                </a:solidFill>
                <a:latin typeface="Arial"/>
                <a:ea typeface="Arial"/>
                <a:cs typeface="Arial"/>
              </a:rPr>
              <a:t>Uma mudança de jornada se multiplica por canal.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0B79A85-123D-4518-BD66-83C9D5D3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838825"/>
            <a:ext cx="569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mais tempo para lançar  •  custo maior  •  experiências diferentes  •  menos energia para inovar</a:t>
            </a:r>
          </a:p>
        </p:txBody>
      </p:sp>
    </p:spTree>
    <p:extLst>
      <p:ext uri="{BB962C8B-B14F-4D97-AF65-F5344CB8AC3E}">
        <p14:creationId xmlns:p14="http://schemas.microsoft.com/office/powerpoint/2010/main" val="7780325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C0947B-55CF-4BE5-85E8-3714EB11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433A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433AD"/>
                </a:solidFill>
                <a:latin typeface="Arial"/>
                <a:ea typeface="Arial"/>
                <a:cs typeface="Arial"/>
              </a:rPr>
              <a:t>ELASTIC JOURNEY • VISÃO EXECUTIVA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43df9d71342d8">
            <a:extLst>
              <a:ext uri="{96DAC541-7B7A-43D3-8B79-37D633B846F1}">
                <asvg:svgBlip xmlns:asvg="http://schemas.microsoft.com/office/drawing/2016/SVG/main" r:embed="R718bf25ac8dc4c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172825" y="1714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BD34F-D201-427D-8234-56833D72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648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008C6-34F2-4BC5-9F37-CEB5DC8F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8A8C9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A8C90"/>
                </a:solidFill>
                <a:latin typeface="Arial"/>
                <a:ea typeface="Arial"/>
                <a:cs typeface="Arial"/>
              </a:rPr>
              <a:t>Elastic Journey • Admin Portal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1513F-2A61-4363-9E8E-7F1971EA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13D91-B17E-468A-8C47-532F65A0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10401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A adoção muda a economia das jornadas digitais.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BA82E-501E-445A-9D1E-85F810C4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1724025"/>
            <a:ext cx="5219700" cy="4010025"/>
          </a:xfrm>
          <a:prstGeom xmlns:a="http://schemas.openxmlformats.org/drawingml/2006/main" prst="roundRect">
            <a:avLst>
              <a:gd name="adj" fmla="val 5226"/>
            </a:avLst>
          </a:prstGeom>
          <a:solidFill xmlns:a="http://schemas.openxmlformats.org/drawingml/2006/main">
            <a:srgbClr val="EDF8E8"/>
          </a:solidFill>
          <a:ln xmlns:a="http://schemas.openxmlformats.org/drawingml/2006/main" w="9525">
            <a:solidFill>
              <a:srgbClr val="C7E6B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DF492-F37B-4602-92E1-68B068D8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1724025"/>
            <a:ext cx="5219700" cy="4010025"/>
          </a:xfrm>
          <a:prstGeom xmlns:a="http://schemas.openxmlformats.org/drawingml/2006/main" prst="roundRect">
            <a:avLst>
              <a:gd name="adj" fmla="val 5226"/>
            </a:avLst>
          </a:prstGeom>
          <a:solidFill xmlns:a="http://schemas.openxmlformats.org/drawingml/2006/main">
            <a:srgbClr val="FFEFE1"/>
          </a:solidFill>
          <a:ln xmlns:a="http://schemas.openxmlformats.org/drawingml/2006/main" w="9525">
            <a:solidFill>
              <a:srgbClr val="FFD69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B43EE-75B2-4DD0-AB15-8E3DDD68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90725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COM A PLATAFORMA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44AEA0-971B-4FD0-AF97-3ACCD55A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431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C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DDB38-0FD1-4826-AD21-A01C6E8B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8B9B9-5422-4557-A6BC-3ADD994F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765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Padronizar a 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8B075-8F1B-47DE-A8A2-00CFC458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76500"/>
            <a:ext cx="2457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9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Modelagem, formulários, execução e controle seguem o mesmo padrão.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B6A9A-DA6C-438F-8D8E-51F82D1C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52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C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29401-CAD5-451C-8389-D194064A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432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26F58-EA49-4660-A2AF-6D37F840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86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37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Reaproveitar componentes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F1CBF-CE58-4863-8201-61AFF928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2457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0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Novos produtos e canais partem de elementos já disponíveis.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8894D-C266-4CA7-8D84-8B01669C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62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C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56F22D-DA7A-44B1-B595-5BB69529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528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64E79D-DA8C-43C9-8E1E-27DA94A7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5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Validar mais cedo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0FBC5-8C5E-4210-B9C7-B6AD5211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5700"/>
            <a:ext cx="2457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 ideia chega antes a um fluxo executável e observável.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A1DAD3-3883-47C7-A26F-A5F6DDAF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71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C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33538A-22CE-4F89-A229-DB4F4830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624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C1F00A-48DF-4B7B-BCE4-9B4FBF12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Mudar com controle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222818-5FBF-4B65-8097-69C3B06E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305300"/>
            <a:ext cx="2457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Versões, auditoria e permissões ficam centralizadas.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9E0B0F-7D58-4684-9E16-BE27C993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815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9CC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C73FC1-0A5E-4513-8703-B12DCCCE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720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192A41-665C-4BB6-9650-0B141475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14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26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Escalar com previsibilidade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02BEDD-7630-4095-9FA3-3B6B1C29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14900"/>
            <a:ext cx="2457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 expansão aproveita a mesma capacidade operacional.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E47949-912C-4A23-821F-22090B68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90725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MODELO ATUAL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E22DB2-2F7C-42D4-B27E-F0263774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431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73E85-F4F7-4BE7-93C6-ECD3B663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B20E13-0A9B-4CBB-BF99-BC7DC7A9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765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Reconstruir a base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87C39F-8E21-4043-918F-CBD3216C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162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Cada canal mantém sua própria orquestração e operação.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C0CFD8-BD46-4C66-B2FC-5A077968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94B7FA-0C2D-4366-9970-60FCFE2F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804722-DDFF-4CB1-AD75-97A861E0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861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Repetir mudanças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05F97D-D72E-48D9-8EA8-826579E4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86100"/>
            <a:ext cx="2162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 mesma regra é alterada em aplicações diferentes.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21DC6F-8245-4CBA-9CE6-BB2A07CD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62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A83D6C-52B0-44CA-BD11-CED5E5DD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528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DD9978-95CC-4091-A0CF-53E5E86E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957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Validar mais tarde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E36A1F-786A-43F5-A475-8A938967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695700"/>
            <a:ext cx="2162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0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Mais dependências separam a ideia da evidência.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09028F-ACCC-4E19-9BDE-8354D2E3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719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B770A2-4A8E-4F40-BCBF-7124A4A0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624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8E363B-1979-40ED-9584-D90391C5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Operar fragmentado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CB0446-B64C-453E-BFD9-541E3069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305300"/>
            <a:ext cx="2162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Mudanças, erros e permissões ficam espalhados.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299AAB-AAB0-4D4E-B2A4-102EE121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815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F159A7-74FC-43EA-BF86-31EE950E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720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972A1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72A1D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0A8E0D-52CD-423D-9E5B-5F00FD6B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14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Escalar com custo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7EF647-03EB-4B74-A609-D004C224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914900"/>
            <a:ext cx="2162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Mais canais significam mais componentes e suporte.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A2664C-1523-4684-AA91-407E20E9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924550"/>
            <a:ext cx="87630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1919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C43CD7-43A2-4E20-B7CB-19AE35FD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7217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Resultado: a empresa investe em uma capacidade comum — não em repetir a mesma base.</a:t>
            </a:r>
          </a:p>
        </p:txBody>
      </p:sp>
    </p:spTree>
    <p:extLst>
      <p:ext uri="{BB962C8B-B14F-4D97-AF65-F5344CB8AC3E}">
        <p14:creationId xmlns:p14="http://schemas.microsoft.com/office/powerpoint/2010/main" val="6619262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1A9029-DDFD-4EF5-8810-AF974B32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433A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433AD"/>
                </a:solidFill>
                <a:latin typeface="Arial"/>
                <a:ea typeface="Arial"/>
                <a:cs typeface="Arial"/>
              </a:rPr>
              <a:t>ELASTIC JOURNEY • VISÃO EXECUTIVA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a1430036340ce">
            <a:extLst>
              <a:ext uri="{96DAC541-7B7A-43D3-8B79-37D633B846F1}">
                <asvg:svgBlip xmlns:asvg="http://schemas.microsoft.com/office/drawing/2016/SVG/main" r:embed="Rbd173eeaf8c14a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172825" y="1714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29D62-8DC9-4B29-9948-2DD767D6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648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9040B-A8B3-4249-B2E8-3A0A6303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8A8C9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A8C90"/>
                </a:solidFill>
                <a:latin typeface="Arial"/>
                <a:ea typeface="Arial"/>
                <a:cs typeface="Arial"/>
              </a:rPr>
              <a:t>Elastic Journey • Admin Portal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8E0CA-E830-4113-B846-0C8CEAB2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8D5C31-C815-43CC-8A7F-6CF8616A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1040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9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Não estamos propondo começar do zero: 90% dos requisitos já foram concluídos.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FE963-83E7-42B5-8F8A-A5F5FC94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09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O núcleo está em 99%. O trabalho restante está concentrado na entrada em produção.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66750" y="1924050"/>
          <a:ext xmlns:a="http://schemas.openxmlformats.org/drawingml/2006/main" cx="3143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77486accef4af6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6C1AB0-2A29-4FBC-8011-EB9B3DAE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771775"/>
            <a:ext cx="1828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1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F0604-6C65-4C67-9E8F-9599327E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48050"/>
            <a:ext cx="1828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335 de 371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requisitos concluídos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EBEEC-E331-4D2F-9747-1CBADDC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0 bloqueados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3FD5F-2E28-488C-8B40-60408BAE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193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Núcleo da solução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06F9C-821A-40A4-9E4F-E94B71AF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1932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253 / 255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8697A-C4F1-4D8D-926D-5BCC07AA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90750"/>
            <a:ext cx="781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99%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2D6290-845C-4BED-B542-3B37EA6E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581275"/>
            <a:ext cx="6038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2CF47B-6D35-4E2C-86CA-D7D2C960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2581275"/>
            <a:ext cx="5978462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732BB9-886C-4A7C-984E-E04F1B1C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603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Produtos, canais, jornadas, modelagem, SDUI, execução e versionamento.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40D36D-5F94-4857-81BF-A1F62977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Governança e operação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3B4A51-DF14-42C5-A363-4D56A242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82 / 86 aplicáveis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8DE0F-E6A3-4B70-97BF-E8649D37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43275"/>
            <a:ext cx="781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00ABD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ABDB"/>
                </a:solidFill>
                <a:latin typeface="Arial"/>
                <a:ea typeface="Arial"/>
                <a:cs typeface="Arial"/>
              </a:rPr>
              <a:t>95%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32E130-EC9C-4F1B-AAF0-C30A7F0F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3733800"/>
            <a:ext cx="6038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16DC95-3E1D-4EBA-92C6-D08E7115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3733800"/>
            <a:ext cx="5736908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B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8FECB8-BA5C-4D8D-851A-3B6D1AD4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71925"/>
            <a:ext cx="603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Autorização, auditoria, ajuda, acompanhamento e painel.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D9BDE9-3616-46EE-88CA-ADEC5FAB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243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Preparação para produção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6670B6-D3E7-4EE2-81D6-546C768D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243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0 / 28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6195A3-05E6-495D-8BCE-5A98F281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95800"/>
            <a:ext cx="781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FF99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9900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194A7-5C04-4BC5-A3A7-77E5766D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6750" y="4886325"/>
            <a:ext cx="6038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44AAE1-6F96-4A6F-825F-6320E3A2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24450"/>
            <a:ext cx="603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Testes automatizados e infraestrutura de produção.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14EDC3-549B-474E-B412-7E70629C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5705475"/>
            <a:ext cx="108204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DDDDD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D30BC9-0990-4016-ADFD-9E0A0742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29300"/>
            <a:ext cx="3000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Verificação técnica em 20/08/2026: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BD2517-62F9-494B-A2A9-3F0004D0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810250"/>
            <a:ext cx="733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front-end e back-end compilam  •  ainda não há testes automatizados</a:t>
            </a:r>
          </a:p>
        </p:txBody>
      </p:sp>
    </p:spTree>
    <p:extLst>
      <p:ext uri="{BB962C8B-B14F-4D97-AF65-F5344CB8AC3E}">
        <p14:creationId xmlns:p14="http://schemas.microsoft.com/office/powerpoint/2010/main" val="7432126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C3157B-15B8-4538-B440-02B2AFDD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433A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433AD"/>
                </a:solidFill>
                <a:latin typeface="Arial"/>
                <a:ea typeface="Arial"/>
                <a:cs typeface="Arial"/>
              </a:rPr>
              <a:t>ELASTIC JOURNEY • VISÃO EXECUTIVA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2a7be2b49494c">
            <a:extLst>
              <a:ext uri="{96DAC541-7B7A-43D3-8B79-37D633B846F1}">
                <asvg:svgBlip xmlns:asvg="http://schemas.microsoft.com/office/drawing/2016/SVG/main" r:embed="R22e8a8b111a74d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172825" y="1714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6F109-DAFC-4F56-B2B0-DA473EC2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648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66E40-1E6E-4D63-87DC-25DE2B59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8A8C9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A8C90"/>
                </a:solidFill>
                <a:latin typeface="Arial"/>
                <a:ea typeface="Arial"/>
                <a:cs typeface="Arial"/>
              </a:rPr>
              <a:t>Elastic Journey • Admin Portal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0C8A8-F6AD-4849-ACE6-8E0428AE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BDCBA-F0D8-47FE-9FB4-84BB2DA7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1040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Recomendação: adotar a plataforma em três etapas.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223AC-5D3A-42E3-B940-8F3BB8FF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09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O piloto é a primeira entrega da adoção — não uma nova prova de conceito.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19083-BA7C-4F83-BF4E-3E566092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2857500"/>
            <a:ext cx="7620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0CC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6CF89-B653-4772-9FD5-66CDE2F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24775" y="2857500"/>
            <a:ext cx="7620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0CC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2024EC-23EB-4490-91E3-D31EFBF4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840E0-5812-4618-9685-2D5131E5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00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351C0-8E64-44E6-A065-F46E8B6D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1526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Habilitar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0EAE4-85D8-4D9A-9FAA-AD8F9FE4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Concluir o mínimo para operar com segurança.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DC391B-631A-4D23-9D50-20A6461A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4000500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66C8B-9210-442C-A3C8-C4B813AF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3C0606-58C9-409E-8580-47D46040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Cenários críticos automatizados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8BD3AB-1E6C-4AC2-A720-E7199AEE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467F7C-8E52-4F81-BB02-E0E32D2B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2440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Ambientes, identidade e acesso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81918F-A967-46FE-B5F6-059CF8668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00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7E3011-9040-4BA2-9EFD-948D1336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387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Acompanhamento e suporte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93813-C326-40CB-8DEE-1F6C622A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5676900"/>
            <a:ext cx="3238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FE5F4"/>
          </a:solidFill>
          <a:ln xmlns:a="http://schemas.openxmlformats.org/drawingml/2006/main" w="9525">
            <a:solidFill>
              <a:srgbClr val="66009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727811-1474-41CD-924A-BDC3205E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009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0099"/>
                </a:solidFill>
                <a:latin typeface="Arial"/>
                <a:ea typeface="Arial"/>
                <a:cs typeface="Arial"/>
              </a:rPr>
              <a:t>Resultado: solução pronta para uma jornada real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859BBC-FCC1-4831-9577-0FA442C4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240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234159-CE77-4EF8-BA25-B9F84464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33600"/>
            <a:ext cx="800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DD3814-12B4-4BED-A451-1B8BA540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526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EB3D7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B3D7D"/>
                </a:solidFill>
                <a:latin typeface="Arial"/>
                <a:ea typeface="Arial"/>
                <a:cs typeface="Arial"/>
              </a:rPr>
              <a:t>Comprovar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FE5708-439E-4C33-A4C1-B771D650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62300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Medir o impacto em uma jornada com dois canais.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1BFEA4-950B-4C48-9FC6-DE890120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4000500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353D00-B589-42AA-9807-6EA6A3E3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76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3C6BAD-BA46-42B6-9691-445F66E7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2100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Comparação com o processo atual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9E27F-CB9D-40FD-988F-894FB69A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E138A4-295D-4496-A83C-C176E140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2440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Tempo da ideia à validação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78A10B-1B9A-4759-86B6-32C63862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05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B3D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D646BE-E3A4-419B-9055-67CF4AA6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2387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Reuso, retrabalho e incidentes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C8941-252D-4826-BF5D-05FC8E55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5676900"/>
            <a:ext cx="3238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CE4EF"/>
          </a:solidFill>
          <a:ln xmlns:a="http://schemas.openxmlformats.org/drawingml/2006/main" w="9525">
            <a:solidFill>
              <a:srgbClr val="EB3D7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7D1F85-74A6-4F99-ACF3-CF76374C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7531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0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EB3D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B3D7D"/>
                </a:solidFill>
                <a:latin typeface="Arial"/>
                <a:ea typeface="Arial"/>
                <a:cs typeface="Arial"/>
              </a:rPr>
              <a:t>Resultado: expansão baseada em evidência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9497FC-5C0F-437A-BF85-EA56D30A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240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5C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9B0E5C-42F6-43EA-B4AC-C987D37C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33600"/>
            <a:ext cx="800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6F4329-A0CC-480B-8346-931D91DC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526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Ampliar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65AF4D-3359-420A-8CAD-454A6C14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62300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9191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1919"/>
                </a:solidFill>
                <a:latin typeface="Arial"/>
                <a:ea typeface="Arial"/>
                <a:cs typeface="Arial"/>
              </a:rPr>
              <a:t>Levar o padrão validado a novos produtos e canais.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8D31F3-988B-42FB-A132-B98C8450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4000500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C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3A7504-07D7-4E3B-BCDF-2396D024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76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5C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2D311C-2997-4FDE-831A-5EC41247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2100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Catálogo de componentes reutilizáveis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35473D-3B1E-481D-A513-D15D0E14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5C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471979-4E38-4064-ACE5-795AB731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72440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 de serviço e suporte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0A3E9A-DC29-4065-97B0-A8FB50A4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05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5C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76E909-0933-478F-9F44-FABA93B8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238750"/>
            <a:ext cx="3028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Governança leve para os times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4B30B4-F9FB-480F-AD08-2D4718A0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5676900"/>
            <a:ext cx="32385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DF8E8"/>
          </a:solidFill>
          <a:ln xmlns:a="http://schemas.openxmlformats.org/drawingml/2006/main" w="9525">
            <a:solidFill>
              <a:srgbClr val="225C3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297E5E-287A-41CC-B551-1D471892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7531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5C3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25C3D"/>
                </a:solidFill>
                <a:latin typeface="Arial"/>
                <a:ea typeface="Arial"/>
                <a:cs typeface="Arial"/>
              </a:rPr>
              <a:t>Resultado: capacidade corporativa reutilizável</a:t>
            </a:r>
          </a:p>
        </p:txBody>
      </p:sp>
    </p:spTree>
    <p:extLst>
      <p:ext uri="{BB962C8B-B14F-4D97-AF65-F5344CB8AC3E}">
        <p14:creationId xmlns:p14="http://schemas.microsoft.com/office/powerpoint/2010/main" val="916377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2026-08-20T04:25:09.4750000Z</dcterms:created>
  <dcterms:modified xsi:type="dcterms:W3CDTF">2026-08-20T04:25:09.4750000Z</dcterms:modified>
</coreProperties>
</file>