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a7c037a31a4af8" /><Relationship Type="http://schemas.openxmlformats.org/officeDocument/2006/relationships/extended-properties" Target="/docProps/app.xml" Id="R7b272df45f254f3a" /><Relationship Type="http://schemas.openxmlformats.org/officeDocument/2006/relationships/officeDocument" Target="/ppt/presentation.xml" Id="Ra2130e3f90c141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37e9f056ef45d0"/>
  </p:sldMasterIdLst>
  <p:notesMasterIdLst>
    <p:notesMasterId xmlns:r="http://schemas.openxmlformats.org/officeDocument/2006/relationships" r:id="Rd5793d2028e84719"/>
  </p:notesMasterIdLst>
  <p:sldIdLst>
    <p:sldId xmlns:r="http://schemas.openxmlformats.org/officeDocument/2006/relationships" id="256" r:id="R9ef06bb49a99493a"/>
    <p:sldId xmlns:r="http://schemas.openxmlformats.org/officeDocument/2006/relationships" id="257" r:id="R774c6cfe5cf94dff"/>
    <p:sldId xmlns:r="http://schemas.openxmlformats.org/officeDocument/2006/relationships" id="258" r:id="R13ca7fdfb8fd4ec0"/>
    <p:sldId xmlns:r="http://schemas.openxmlformats.org/officeDocument/2006/relationships" id="259" r:id="R8c468e1e4f8b4090"/>
    <p:sldId xmlns:r="http://schemas.openxmlformats.org/officeDocument/2006/relationships" id="260" r:id="Rf98006a828e44abc"/>
    <p:sldId xmlns:r="http://schemas.openxmlformats.org/officeDocument/2006/relationships" id="261" r:id="R28c9f83544934a8e"/>
    <p:sldId xmlns:r="http://schemas.openxmlformats.org/officeDocument/2006/relationships" id="262" r:id="R33300e7414c04c90"/>
    <p:sldId xmlns:r="http://schemas.openxmlformats.org/officeDocument/2006/relationships" id="263" r:id="R2fae3efcc8ca4d77"/>
    <p:sldId xmlns:r="http://schemas.openxmlformats.org/officeDocument/2006/relationships" id="264" r:id="Red96baa9893441ae"/>
    <p:sldId xmlns:r="http://schemas.openxmlformats.org/officeDocument/2006/relationships" id="265" r:id="R2267989fbbab47e6"/>
    <p:sldId xmlns:r="http://schemas.openxmlformats.org/officeDocument/2006/relationships" id="266" r:id="R62edaccbb84a4720"/>
    <p:sldId xmlns:r="http://schemas.openxmlformats.org/officeDocument/2006/relationships" id="267" r:id="Rbd36b8f0ad424329"/>
    <p:sldId xmlns:r="http://schemas.openxmlformats.org/officeDocument/2006/relationships" id="268" r:id="R65656b6da2ac4be0"/>
    <p:sldId xmlns:r="http://schemas.openxmlformats.org/officeDocument/2006/relationships" id="269" r:id="Rac4e9ae15b8c4099"/>
    <p:sldId xmlns:r="http://schemas.openxmlformats.org/officeDocument/2006/relationships" id="270" r:id="R7114e0fbf0664d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1f6b9ef91c42a7" /><Relationship Type="http://schemas.openxmlformats.org/officeDocument/2006/relationships/slideMaster" Target="/ppt/slideMasters/slideMaster1.xml" Id="R1237e9f056ef45d0" /><Relationship Type="http://schemas.openxmlformats.org/officeDocument/2006/relationships/notesMaster" Target="/ppt/notesMasters/notesMaster1.xml" Id="Rd5793d2028e84719" /><Relationship Type="http://schemas.openxmlformats.org/officeDocument/2006/relationships/presProps" Target="/ppt/presProps.xml" Id="Rc4937672bba54c07" /><Relationship Type="http://schemas.openxmlformats.org/officeDocument/2006/relationships/tableStyles" Target="/ppt/tableStyles.xml" Id="R6bf5432866e84d7c" /><Relationship Type="http://schemas.openxmlformats.org/officeDocument/2006/relationships/slide" Target="/ppt/slides/slide1.xml" Id="R9ef06bb49a99493a" /><Relationship Type="http://schemas.openxmlformats.org/officeDocument/2006/relationships/slide" Target="/ppt/slides/slide2.xml" Id="R774c6cfe5cf94dff" /><Relationship Type="http://schemas.openxmlformats.org/officeDocument/2006/relationships/slide" Target="/ppt/slides/slide3.xml" Id="R13ca7fdfb8fd4ec0" /><Relationship Type="http://schemas.openxmlformats.org/officeDocument/2006/relationships/slide" Target="/ppt/slides/slide4.xml" Id="R8c468e1e4f8b4090" /><Relationship Type="http://schemas.openxmlformats.org/officeDocument/2006/relationships/slide" Target="/ppt/slides/slide5.xml" Id="Rf98006a828e44abc" /><Relationship Type="http://schemas.openxmlformats.org/officeDocument/2006/relationships/slide" Target="/ppt/slides/slide6.xml" Id="R28c9f83544934a8e" /><Relationship Type="http://schemas.openxmlformats.org/officeDocument/2006/relationships/slide" Target="/ppt/slides/slide7.xml" Id="R33300e7414c04c90" /><Relationship Type="http://schemas.openxmlformats.org/officeDocument/2006/relationships/slide" Target="/ppt/slides/slide8.xml" Id="R2fae3efcc8ca4d77" /><Relationship Type="http://schemas.openxmlformats.org/officeDocument/2006/relationships/slide" Target="/ppt/slides/slide9.xml" Id="Red96baa9893441ae" /><Relationship Type="http://schemas.openxmlformats.org/officeDocument/2006/relationships/slide" Target="/ppt/slides/slide10.xml" Id="R2267989fbbab47e6" /><Relationship Type="http://schemas.openxmlformats.org/officeDocument/2006/relationships/slide" Target="/ppt/slides/slide11.xml" Id="R62edaccbb84a4720" /><Relationship Type="http://schemas.openxmlformats.org/officeDocument/2006/relationships/slide" Target="/ppt/slides/slide12.xml" Id="Rbd36b8f0ad424329" /><Relationship Type="http://schemas.openxmlformats.org/officeDocument/2006/relationships/slide" Target="/ppt/slides/slide13.xml" Id="R65656b6da2ac4be0" /><Relationship Type="http://schemas.openxmlformats.org/officeDocument/2006/relationships/slide" Target="/ppt/slides/slide14.xml" Id="Rac4e9ae15b8c4099" /><Relationship Type="http://schemas.openxmlformats.org/officeDocument/2006/relationships/slide" Target="/ppt/slides/slide15.xml" Id="R7114e0fbf0664d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cb60ff587f44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97e6141863495a" /><Relationship Type="http://schemas.openxmlformats.org/officeDocument/2006/relationships/notesMaster" Target="/ppt/notesMasters/notesMaster1.xml" Id="R3f84fe4651ed4f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2fe107e39e475b" /><Relationship Type="http://schemas.openxmlformats.org/officeDocument/2006/relationships/notesMaster" Target="/ppt/notesMasters/notesMaster1.xml" Id="R8262ab6e81d840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7ff3841cef423e" /><Relationship Type="http://schemas.openxmlformats.org/officeDocument/2006/relationships/notesMaster" Target="/ppt/notesMasters/notesMaster1.xml" Id="R1ca6416df7e144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3ed85ed0a9475d" /><Relationship Type="http://schemas.openxmlformats.org/officeDocument/2006/relationships/notesMaster" Target="/ppt/notesMasters/notesMaster1.xml" Id="R3227f0aa93fb4d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1a43fb6eb747df" /><Relationship Type="http://schemas.openxmlformats.org/officeDocument/2006/relationships/notesMaster" Target="/ppt/notesMasters/notesMaster1.xml" Id="Rd871110e7f6c47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a9a67030e14a10" /><Relationship Type="http://schemas.openxmlformats.org/officeDocument/2006/relationships/notesMaster" Target="/ppt/notesMasters/notesMaster1.xml" Id="R629c66a2879a40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02cf85904c4d58" /><Relationship Type="http://schemas.openxmlformats.org/officeDocument/2006/relationships/notesMaster" Target="/ppt/notesMasters/notesMaster1.xml" Id="R7e3ef7359b4d47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503d9abaa244ac" /><Relationship Type="http://schemas.openxmlformats.org/officeDocument/2006/relationships/notesMaster" Target="/ppt/notesMasters/notesMaster1.xml" Id="R1b05b846e1374a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9335837d924a16" /><Relationship Type="http://schemas.openxmlformats.org/officeDocument/2006/relationships/notesMaster" Target="/ppt/notesMasters/notesMaster1.xml" Id="R1e5b2b6482194d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9ce998864f4bad" /><Relationship Type="http://schemas.openxmlformats.org/officeDocument/2006/relationships/notesMaster" Target="/ppt/notesMasters/notesMaster1.xml" Id="R9ef097e6cfd444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0518b693e9475c" /><Relationship Type="http://schemas.openxmlformats.org/officeDocument/2006/relationships/notesMaster" Target="/ppt/notesMasters/notesMaster1.xml" Id="R1c14e96a831d42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4e3674242545b0" /><Relationship Type="http://schemas.openxmlformats.org/officeDocument/2006/relationships/notesMaster" Target="/ppt/notesMasters/notesMaster1.xml" Id="Rd2d4c99fd7f44d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207640552e417e" /><Relationship Type="http://schemas.openxmlformats.org/officeDocument/2006/relationships/notesMaster" Target="/ppt/notesMasters/notesMaster1.xml" Id="R51c7566a07164e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f337bb09104331" /><Relationship Type="http://schemas.openxmlformats.org/officeDocument/2006/relationships/notesMaster" Target="/ppt/notesMasters/notesMaster1.xml" Id="R3b5cf2f6e28d4b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097a4838c14da1" /><Relationship Type="http://schemas.openxmlformats.org/officeDocument/2006/relationships/notesMaster" Target="/ppt/notesMasters/notesMaster1.xml" Id="R494726e812e640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pela decisão de negócio: reduzir o esforço para testar e evoluir jornadas digitais sem perder controle. A apresentação mostra a escolha de arquitetura, o valor esperado e o que precisa ser concluído antes do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Mística Vivo Evolution palette: front/node_modules/@telefonica/mistica/src/skins/vivo-evolution.tsx</a:t>
            </a:r>
          </a:p>
          <a:p xmlns:a="http://schemas.openxmlformats.org/drawingml/2006/main">
            <a:r>
              <a:t>- Mística Vivo logo source: front/node_modules/@telefonica/mistica/src/logo-vivo.tsx</a:t>
            </a:r>
          </a:p>
          <a:p xmlns:a="http://schemas.openxmlformats.org/drawingml/2006/main">
            <a:r>
              <a:t>- Generated background prompt: abstract converging digital journey ribbons; built-in image generation; no text or logo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como resumo. Jornada e experiência ficam em uma plataforma reutilizável; uma integração simples não deve receber uma camada ACL sem uma necessidade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images: as is.png, comparativo.png, over.png, tobe.png</a:t>
            </a:r>
          </a:p>
          <a:p xmlns:a="http://schemas.openxmlformats.org/drawingml/2006/main">
            <a:r>
              <a:t>- requisitos/admin/progresso.md — resumo de progresso da versão 1.0.0</a:t>
            </a:r>
          </a:p>
          <a:p xmlns:a="http://schemas.openxmlformats.org/drawingml/2006/main">
            <a:r>
              <a:t>- requisitos/admin/ej-admin-arquitetura-logica.md — fronteiras e responsabilidades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dor não é ter vários canais. É repetir, em cada um, as mesmas responsabilidades. Quanto mais canais, mais esforço para coordenar mudanças e manter a experiência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as is.png</a:t>
            </a:r>
          </a:p>
          <a:p xmlns:a="http://schemas.openxmlformats.org/drawingml/2006/main">
            <a:r>
              <a:t>- requisitos/admin/ej-admin-index.md — papel do Admin Portal e cardinalidade por canal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argumento não é eliminar a ACL. Ela continua útil quando há transformação, combinação de sistemas ou isolamento. Para uma chamada REST simples, o motor e o conector genérico já resolvem o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comparativo.png</a:t>
            </a:r>
          </a:p>
          <a:p xmlns:a="http://schemas.openxmlformats.org/drawingml/2006/main">
            <a:r>
              <a:t>- User-provided image: over.png</a:t>
            </a:r>
          </a:p>
          <a:p xmlns:a="http://schemas.openxmlformats.org/drawingml/2006/main">
            <a:r>
              <a:t>- requisitos/admin/ej-admin-requisitos.md — US-03.08 e US-03.09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slide da decisão de arquitetura. A ACL continua disponível, mas seu uso depende de uma necessidade clara. Segurança, auditoria e rastreabilidade valem para os dois caminhos.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comparativo.png — seção 'Quando a ACL faz sentido'</a:t>
            </a:r>
          </a:p>
          <a:p xmlns:a="http://schemas.openxmlformats.org/drawingml/2006/main">
            <a:r>
              <a:t>- User-provided image: over.png — recomendação</a:t>
            </a:r>
          </a:p>
          <a:p xmlns:a="http://schemas.openxmlformats.org/drawingml/2006/main">
            <a:r>
              <a:t>- requisitos/admin/ej-admin-arquitetura-logica.md — framework de conectores e fronteira com runtime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cada parte tem uma responsabilidade clara: os canais apresentam a experiência; o Elastic Journey modela e executa; os sistemas corporativos continuam protegidos por contratos. Eventos são uma opção, não uma obrigação.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tobe.png</a:t>
            </a:r>
          </a:p>
          <a:p xmlns:a="http://schemas.openxmlformats.org/drawingml/2006/main">
            <a:r>
              <a:t>- User-provided image: as is.png — visão consolidada Elastic Journey + SDUI</a:t>
            </a:r>
          </a:p>
          <a:p xmlns:a="http://schemas.openxmlformats.org/drawingml/2006/main">
            <a:r>
              <a:t>- requisitos/admin/ej-admin-arquitetura-logica.md — domínios, publicação, execução e fronteira com runtime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a arquitetura ao dia a dia de produto. O ganho não é apenas desenvolver mais rápido; é testar uma hipótese mais cedo, aprender e ajustar com controle.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tobe.png — resultados de negócio e princípio arquitetural</a:t>
            </a:r>
          </a:p>
          <a:p xmlns:a="http://schemas.openxmlformats.org/drawingml/2006/main">
            <a:r>
              <a:t>- requisitos/admin/ej-admin-requisitos.md — FT-03, FT-04, FT-05 e FT-06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Separe avanço funcional de preparo para produção. O progresso oficial é 90%. Fora os blocos de testes e infraestrutura, os demais requisitos aplicáveis estão perto de 98%; portanto, o trabalho que falta está bem concentrado.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requisitos/admin/progresso.md — 335 done, 3 in_progress, 31 todo, 2 n/a, 0 blocked</a:t>
            </a:r>
          </a:p>
          <a:p xmlns:a="http://schemas.openxmlformats.org/drawingml/2006/main">
            <a:r>
              <a:t>- Calculation from progress table: FT-01..FT-06 = 253/255; FT-07..FT-10 + FT-13 = 82/86 applicable; FT-11..FT-12 = 0/28 done</a:t>
            </a:r>
          </a:p>
          <a:p xmlns:a="http://schemas.openxmlformats.org/drawingml/2006/main">
            <a:r>
              <a:t>- Local verification on 2026-08-20: npm run build success; Maven verify success; source-tree scan found 0 Java tests and 0 front-end test files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transparência aumenta a confiança. O produto já demonstra a proposta, mas compilar e cobrir as funções não garante, por si só, segurança, estabilidade e uma entrega repetível em produção.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requisitos/admin/progresso.md — FT-11 Testes e FT-12 Infraestrutura</a:t>
            </a:r>
          </a:p>
          <a:p xmlns:a="http://schemas.openxmlformats.org/drawingml/2006/main">
            <a:r>
              <a:t>- requisitos/admin/ej-admin-index.md — mocks e fora de escopo</a:t>
            </a:r>
          </a:p>
          <a:p xmlns:a="http://schemas.openxmlformats.org/drawingml/2006/main">
            <a:r>
              <a:t>- requisitos/admin/ej-admin-arquitetura-logica.md — contrato definitivo do runtime ainda não definido</a:t>
            </a:r>
          </a:p>
          <a:p xmlns:a="http://schemas.openxmlformats.org/drawingml/2006/main">
            <a:r>
              <a:t>- Local source-tree and build verification on 2026-08-20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a ordem recomendada, não um cronograma. Primeiro concluímos o mínimo para um piloto seguro; depois medimos valor e riscos; por fim, levamos o que funcionou para outros produtos e canais.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requisitos/admin/progresso.md — itens abertos de FT-11 e FT-12</a:t>
            </a:r>
          </a:p>
          <a:p xmlns:a="http://schemas.openxmlformats.org/drawingml/2006/main">
            <a:r>
              <a:t>- User-provided tobe.png — valor esperado de velocidade, qualidade, escala e controle</a:t>
            </a:r>
          </a:p>
          <a:p xmlns:a="http://schemas.openxmlformats.org/drawingml/2006/main">
            <a:r>
              <a:t>- Recommendation synthesized from local project evidence; no committed dates assumed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com três decisões concretas: confirmar a diretriz de integração, priorizar o que falta para produção e escolher um piloto com responsável e medidas de valor.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of user-provided AS IS / comparison / overengineering / TO BE artifacts</a:t>
            </a:r>
          </a:p>
          <a:p xmlns:a="http://schemas.openxmlformats.org/drawingml/2006/main">
            <a:r>
              <a:t>- requisitos/admin/progresso.md and ej-admin-arquitetura-logica.md</a:t>
            </a:r>
          </a:p>
          <a:p xmlns:a="http://schemas.openxmlformats.org/drawingml/2006/main">
            <a:r>
              <a:t>- Generated background reused from slide 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material original caso surjam perguntas sobre o desenho de referência.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C:/Users/gonza/AppData/Local/Temp/as 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material original caso surjam perguntas sobre a comparação entre REST direto e ACL.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C:/Users/gonza/AppData/Local/Temp/comparativo.png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material original caso surjam perguntas sobre a arquitetura atual com ACL.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C:/Users/gonza/AppData/Local/Temp/over.png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material original caso surjam perguntas sobre a arquitetura proposta.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C:/Users/gonza/AppData/Local/Temp/tobe.png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9e4f8fcf840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06e5a2d63e498a" /><Relationship Type="http://schemas.openxmlformats.org/officeDocument/2006/relationships/slideLayout" Target="/ppt/slideLayouts/slideLayout1.xml" Id="Re62a6f1d67c043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2a6f1d67c043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2f9a489384090" /><Relationship Type="http://schemas.openxmlformats.org/officeDocument/2006/relationships/image" Target="/ppt/media/image.png" Id="R011f7dbb8e4142aa" /><Relationship Type="http://schemas.openxmlformats.org/officeDocument/2006/relationships/image" Target="/ppt/media/image.svg" Id="Ra9c31283f42d4ad8" /><Relationship Type="http://schemas.openxmlformats.org/officeDocument/2006/relationships/notesSlide" Target="/ppt/notesSlides/notesSlide1.xml" Id="R9543dfbe437a42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26f3001d44b1f" /><Relationship Type="http://schemas.openxmlformats.org/officeDocument/2006/relationships/image" Target="/ppt/media/image2.png" Id="R96dfd8d838f746b8" /><Relationship Type="http://schemas.openxmlformats.org/officeDocument/2006/relationships/image" Target="/ppt/media/image2.svg" Id="Rc4ee73501d464dc2" /><Relationship Type="http://schemas.openxmlformats.org/officeDocument/2006/relationships/notesSlide" Target="/ppt/notesSlides/notesSlide2.xml" Id="R1e0c8ce7d9514c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c5c31cb0f48ff" /><Relationship Type="http://schemas.openxmlformats.org/officeDocument/2006/relationships/image" Target="/ppt/media/image3.png" Id="R18d929954d6a4855" /><Relationship Type="http://schemas.openxmlformats.org/officeDocument/2006/relationships/image" Target="/ppt/media/image3.svg" Id="R64d27eaad71d4200" /><Relationship Type="http://schemas.openxmlformats.org/officeDocument/2006/relationships/notesSlide" Target="/ppt/notesSlides/notesSlide3.xml" Id="Rc90a2ab9040b4e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1c99150964fe0" /><Relationship Type="http://schemas.openxmlformats.org/officeDocument/2006/relationships/image" Target="/ppt/media/image4.png" Id="Rd65dc21906ee4c34" /><Relationship Type="http://schemas.openxmlformats.org/officeDocument/2006/relationships/image" Target="/ppt/media/image4.svg" Id="R9cb15c6e31014b99" /><Relationship Type="http://schemas.openxmlformats.org/officeDocument/2006/relationships/notesSlide" Target="/ppt/notesSlides/notesSlide4.xml" Id="R98009bb4a91b4a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9c3cddcf649a2" /><Relationship Type="http://schemas.openxmlformats.org/officeDocument/2006/relationships/image" Target="/ppt/media/image5.png" Id="Rcfce3554d375433f" /><Relationship Type="http://schemas.openxmlformats.org/officeDocument/2006/relationships/image" Target="/ppt/media/image5.svg" Id="Rf7fa6aff2a294648" /><Relationship Type="http://schemas.openxmlformats.org/officeDocument/2006/relationships/notesSlide" Target="/ppt/notesSlides/notesSlide5.xml" Id="R9c1ef1f09c0e40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7a3b53e44488b" /><Relationship Type="http://schemas.openxmlformats.org/officeDocument/2006/relationships/image" Target="/ppt/media/image6.png" Id="R1a85e7293b64495b" /><Relationship Type="http://schemas.openxmlformats.org/officeDocument/2006/relationships/image" Target="/ppt/media/image6.svg" Id="Rd87e49b537ef417f" /><Relationship Type="http://schemas.openxmlformats.org/officeDocument/2006/relationships/notesSlide" Target="/ppt/notesSlides/notesSlide6.xml" Id="R87c893c3603e4c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a7ba2467a4018" /><Relationship Type="http://schemas.openxmlformats.org/officeDocument/2006/relationships/image" Target="/ppt/media/image7.png" Id="Ra4b68906d71d4a2a" /><Relationship Type="http://schemas.openxmlformats.org/officeDocument/2006/relationships/image" Target="/ppt/media/image7.svg" Id="Re7cfbbf7f1264f79" /><Relationship Type="http://schemas.openxmlformats.org/officeDocument/2006/relationships/notesSlide" Target="/ppt/notesSlides/notesSlide7.xml" Id="R6e2b8d65dc8949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6490516a7475a" /><Relationship Type="http://schemas.openxmlformats.org/officeDocument/2006/relationships/image" Target="/ppt/media/image8.png" Id="R81d53376b9534c0d" /><Relationship Type="http://schemas.openxmlformats.org/officeDocument/2006/relationships/image" Target="/ppt/media/image8.svg" Id="R8fd534efd13a495c" /><Relationship Type="http://schemas.openxmlformats.org/officeDocument/2006/relationships/chart" Target="/ppt/slides/charts/chart1.xml" Id="Rbfaf194b28234a30" /><Relationship Type="http://schemas.openxmlformats.org/officeDocument/2006/relationships/notesSlide" Target="/ppt/notesSlides/notesSlide8.xml" Id="Red2dbe0e1c3a4f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a4d7777b04c20" /><Relationship Type="http://schemas.openxmlformats.org/officeDocument/2006/relationships/image" Target="/ppt/media/image9.png" Id="R9ff8b401be0b41f0" /><Relationship Type="http://schemas.openxmlformats.org/officeDocument/2006/relationships/image" Target="/ppt/media/image9.svg" Id="Rdae3d48ec2d740d1" /><Relationship Type="http://schemas.openxmlformats.org/officeDocument/2006/relationships/notesSlide" Target="/ppt/notesSlides/notesSlide9.xml" Id="R14ee28e5ce2f48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7d8a3eb2a4071" /><Relationship Type="http://schemas.openxmlformats.org/officeDocument/2006/relationships/image" Target="/ppt/media/image10.png" Id="R5e151b5899c44a01" /><Relationship Type="http://schemas.openxmlformats.org/officeDocument/2006/relationships/image" Target="/ppt/media/image10.svg" Id="Raa8bd187db3a485c" /><Relationship Type="http://schemas.openxmlformats.org/officeDocument/2006/relationships/notesSlide" Target="/ppt/notesSlides/notesSlide10.xml" Id="R42a0baad309b44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a926e13924645" /><Relationship Type="http://schemas.openxmlformats.org/officeDocument/2006/relationships/image" Target="/ppt/media/image11.png" Id="R63ba56250c6f430c" /><Relationship Type="http://schemas.openxmlformats.org/officeDocument/2006/relationships/image" Target="/ppt/media/image12.png" Id="Ref911d560b994955" /><Relationship Type="http://schemas.openxmlformats.org/officeDocument/2006/relationships/image" Target="/ppt/media/image11.svg" Id="R1bca3bd6fad64c9f" /><Relationship Type="http://schemas.openxmlformats.org/officeDocument/2006/relationships/notesSlide" Target="/ppt/notesSlides/notesSlide11.xml" Id="Re2f76c3379804e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c89ce54664d8c" /><Relationship Type="http://schemas.openxmlformats.org/officeDocument/2006/relationships/image" Target="/ppt/media/image12.svg" Id="Re7d91bc611444512" /><Relationship Type="http://schemas.openxmlformats.org/officeDocument/2006/relationships/image" Target="/ppt/media/image11.png" Id="Re0c0051034234f44" /><Relationship Type="http://schemas.openxmlformats.org/officeDocument/2006/relationships/image" Target="/ppt/media/image13.png" Id="R865d7f7cba124e1d" /><Relationship Type="http://schemas.openxmlformats.org/officeDocument/2006/relationships/notesSlide" Target="/ppt/notesSlides/notesSlide12.xml" Id="R08359ec5e390450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2503d75fe4311" /><Relationship Type="http://schemas.openxmlformats.org/officeDocument/2006/relationships/image" Target="/ppt/media/image14.png" Id="R15adc9dbbae643e2" /><Relationship Type="http://schemas.openxmlformats.org/officeDocument/2006/relationships/image" Target="/ppt/media/image13.svg" Id="R78035b1afd3b4833" /><Relationship Type="http://schemas.openxmlformats.org/officeDocument/2006/relationships/image" Target="/ppt/media/image15.png" Id="Rcd8e3c51094b43c1" /><Relationship Type="http://schemas.openxmlformats.org/officeDocument/2006/relationships/notesSlide" Target="/ppt/notesSlides/notesSlide13.xml" Id="R70eff7adf29f47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c222eb7c543e2" /><Relationship Type="http://schemas.openxmlformats.org/officeDocument/2006/relationships/image" Target="/ppt/media/image16.png" Id="R26d713c9813f41e0" /><Relationship Type="http://schemas.openxmlformats.org/officeDocument/2006/relationships/image" Target="/ppt/media/image14.svg" Id="Rada82a207cc5442d" /><Relationship Type="http://schemas.openxmlformats.org/officeDocument/2006/relationships/image" Target="/ppt/media/image17.png" Id="R03734be912914f79" /><Relationship Type="http://schemas.openxmlformats.org/officeDocument/2006/relationships/notesSlide" Target="/ppt/notesSlides/notesSlide14.xml" Id="R68b2a39b1d9f49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bc1cd4301488b" /><Relationship Type="http://schemas.openxmlformats.org/officeDocument/2006/relationships/image" Target="/ppt/media/image15.svg" Id="Raa0bc74649a648dc" /><Relationship Type="http://schemas.openxmlformats.org/officeDocument/2006/relationships/image" Target="/ppt/media/image13.png" Id="Re9705e5648a148dc" /><Relationship Type="http://schemas.openxmlformats.org/officeDocument/2006/relationships/image" Target="/ppt/media/image18.png" Id="Rb4c4357ee65e4b10" /><Relationship Type="http://schemas.openxmlformats.org/officeDocument/2006/relationships/notesSlide" Target="/ppt/notesSlides/notesSlide15.xml" Id="R29e1baf9e9774f66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Requisitos</c:v>
          </c:tx>
          <c:dPt>
            <c:idx val="0"/>
            <c:spPr>
              <a:solidFill xmlns:a="http://schemas.openxmlformats.org/drawingml/2006/main">
                <a:srgbClr val="660099"/>
              </a:solidFill>
              <a:ln xmlns:a="http://schemas.openxmlformats.org/drawingml/2006/main" w="0">
                <a:solidFill>
                  <a:srgbClr val="660099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EEEEEE"/>
              </a:solidFill>
              <a:ln xmlns:a="http://schemas.openxmlformats.org/drawingml/2006/main" w="0">
                <a:solidFill>
                  <a:srgbClr val="EEEEEE"/>
                </a:solidFill>
                <a:prstDash val="solid"/>
              </a:ln>
            </c:spPr>
          </c:dPt>
          <c:cat>
            <c:strLit>
              <c:ptCount val="2"/>
              <c:pt idx="0">
                <c:v>Concluídos</c:v>
              </c:pt>
              <c:pt idx="1">
                <c:v>Restantes</c:v>
              </c:pt>
            </c:strLit>
          </c:cat>
          <c:val>
            <c:numLit>
              <c:formatCode>General</c:formatCode>
              <c:ptCount val="2"/>
              <c:pt idx="0">
                <c:v>335</c:v>
              </c:pt>
              <c:pt idx="1">
                <c:v>36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f7dbb8e4142a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C7922-9682-477F-833C-CE2F60D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90510">
                  <a:alpha val="94000"/>
                </a:srgbClr>
              </a:gs>
              <a:gs pos="58000">
                <a:srgbClr val="170522">
                  <a:alpha val="48000"/>
                </a:srgbClr>
              </a:gs>
              <a:gs pos="100000">
                <a:srgbClr val="090510">
                  <a:alpha val="16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f7dbb8e4142aa">
            <a:extLst>
              <a:ext uri="{96DAC541-7B7A-43D3-8B79-37D633B846F1}">
                <asvg:svgBlip xmlns:asvg="http://schemas.microsoft.com/office/drawing/2016/SVG/main" r:embed="Ra9c31283f42d4a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B5CB1-1C9B-45DD-AFBB-0F01795B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91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4C305-0698-4861-93C0-2C61C882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Elastic Journey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4EAA5-6686-4748-8714-8EDFE6EA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6334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Menos complexidade.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Mais velocidade para inovar.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D1C4D-B3A5-4345-B814-260FF065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49580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A4D6B-900D-4C60-B90C-B95D2306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3EA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EAF8"/>
                </a:solidFill>
                <a:latin typeface="Arial"/>
                <a:ea typeface="Arial"/>
                <a:cs typeface="Arial"/>
              </a:rPr>
              <a:t>A decisão, o valor e o caminho até o piloto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73498-3EF4-4290-A4B5-1A5AC57E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CCD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CDE5"/>
                </a:solidFill>
                <a:latin typeface="Arial"/>
                <a:ea typeface="Arial"/>
                <a:cs typeface="Arial"/>
              </a:rPr>
              <a:t>20 de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661018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33B528-170B-4896-89AA-DE53CA4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fd8d838f746b8">
            <a:extLst>
              <a:ext uri="{96DAC541-7B7A-43D3-8B79-37D633B846F1}">
                <asvg:svgBlip xmlns:asvg="http://schemas.microsoft.com/office/drawing/2016/SVG/main" r:embed="Rc4ee73501d464d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BDBD0-879E-47E2-892C-0A1C8C01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DAD7B-B70A-417B-BDC3-D73A13B2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F077A-2E3C-43B9-B986-E073D889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BCDC0-70C9-4C72-BB4B-5E37D2EE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O ponto não é escolher entre velocidade e controle.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É decidir onde a complexidade deve ficar.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A0117-98B4-426C-81A0-75D0FA2F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7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Jornada, estado e experiência ficam na plataforma. Integrações simples continuam simples.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F5B50-4CF2-4781-A2AF-18FF17D8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08610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CE023-8D83-4FBA-9C78-303D68BC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BBE5C-C788-46D4-A3D9-A2C1F412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BAB8D-971C-4F57-8A91-58CC6BA9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C1F5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C1F59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4B3F1-4F80-40E6-A505-84DC8AA0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Cada canal replica regras, estado, telas e integrações.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B00FE-F72B-42B6-8567-F5498E47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86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56CBA-3824-49D8-9EB0-7ED4F54D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95575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11ED2-3169-4921-B4F0-C964E495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76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Caminho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945E5-6952-48A6-88C2-E8A7E280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67175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Elastic Journey concentra a jornada e os componentes de experiência.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BF83B-EE25-46B5-A2DA-C69FFE5E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42CF4-6046-43F5-87E3-0661FB56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95575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1296A-DFCE-4421-99AA-6245EB4E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76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ABD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ABDB"/>
                </a:solidFill>
                <a:latin typeface="Arial"/>
                <a:ea typeface="Arial"/>
                <a:cs typeface="Arial"/>
              </a:rPr>
              <a:t>Ganho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C7C44-6E31-483D-975E-B2DFC332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67175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Mais reuso e consistência, com menos pontos para operar.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8CED0-FC49-44C3-8945-A0B75310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86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75E46-7DBE-4C5E-89E7-D53E3FF2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95575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7CA34-B34A-4126-A62D-CD55DA05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76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Momento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019317-7E43-4D14-9932-19138529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67175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90% dos requisitos concluídos; faltam testes e infraestrutura de produção.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934C7-4717-4C44-B997-307D959B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514975"/>
            <a:ext cx="108204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1E2AA2-02FA-4FBA-9D0C-E8BE50FE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67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Em uma frase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2315E-E2AA-4F8E-9F27-00A6E62B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38800"/>
            <a:ext cx="864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1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 solução já funciona. O próximo passo é prepará-la para operar com segurança em produção.</a:t>
            </a:r>
          </a:p>
        </p:txBody>
      </p:sp>
    </p:spTree>
    <p:extLst>
      <p:ext uri="{BB962C8B-B14F-4D97-AF65-F5344CB8AC3E}">
        <p14:creationId xmlns:p14="http://schemas.microsoft.com/office/powerpoint/2010/main" val="2142345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DBB2805-D1BF-4A8D-81B3-BB023206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929954d6a4855">
            <a:extLst>
              <a:ext uri="{96DAC541-7B7A-43D3-8B79-37D633B846F1}">
                <asvg:svgBlip xmlns:asvg="http://schemas.microsoft.com/office/drawing/2016/SVG/main" r:embed="R64d27eaad71d42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D418F-7585-49EA-B772-D8254141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F9CF9-BFA1-4180-B7D9-8E54B3CA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5BA8D-16D4-499D-935E-66B253D3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6200B-F56A-4053-96C6-1094E9E6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Hoje, cada novo canal replica a operação inteira.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1CD9E-41A5-4655-B8DC-5896ECF3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escala adiciona alcance — e também duplica lógica, manutenção e risco.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AA9F8-38F3-469D-B76A-7E6E730A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3D783-048F-4128-9505-C6AF6558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8BF2E-CF3E-4023-A6ED-7A546650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A7303-FB65-4BAC-A049-7609EDF7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B46C9-C06B-4E38-8F5F-FF74600E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E0C58-FA7F-418D-ADD9-69EF9A32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72029-0EB6-4D73-80CC-A5841245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22159-7AEB-4733-B1E2-9D6A17BF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13957-AD0C-449E-924A-1416DCCD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0BF71-FC1B-4FF3-BF33-E799B61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38D02-01CA-44B4-972D-D6DD1C56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0BAB8-6D46-422D-8D41-9EF07A83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98AFF-3146-4344-B0B1-9E9DDAFA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191D4-98EE-4C0E-AACC-D222E533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14F56-987B-492D-B518-A159E164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B3BCAB-12F8-4C58-9D2C-565899A4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79D1A-4910-475C-B083-EEA490C5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Portal Web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0F24F-AE6F-4D72-B200-C17F9CD5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24CB99-FDFC-4AEE-92D4-C8B6BB8B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F4D66A-BD76-4E56-A527-F1551EFA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7354F3-4EE5-4365-94D2-ED920265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70DF95-EEE6-4ECA-A02D-12889C45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6FECE1-58B6-49CF-910D-23A313E8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1BBC7C-8B44-486A-B759-6717811E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C5291-05D6-4276-994D-54BF7152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3A3C7B-DDC6-4088-8031-2CC17F2E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015BE-0DB8-40A7-B81A-0BDE655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3F831D-0556-4BD6-A93B-0794BA04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475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9ED066-6CB2-4BF9-BC0C-CCE48C4B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72731B-AA28-4115-92D2-2528166B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6B5ED8-BCB4-46D2-97D5-2473CE34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WhatsApp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9FFDD0-8FEC-4660-BCC5-0199B425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905345-9528-4FF2-A118-0774E25C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6EC13E-A86C-4D89-97AF-649D3601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DB5B83-6C6A-4CC0-BD63-CC236E58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8F03EF-4790-43DE-BE5D-E6C516A4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BBD526-58D6-485B-B468-5240D918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58FBC1-1492-4A47-AB84-CEE1933A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B8AB82-D831-4743-ADCF-9FA9FD7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0F7596-D588-4EA4-83C7-5F1445DF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1435BD-CE7E-4CAD-8A20-1FF017A1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74DD8E-1CDE-4789-918A-104981C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FEC4A4-B8B5-4FCE-A284-7991228F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97BA91-EFFF-476F-8FBE-D05BF04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4DC71A-3BA2-4340-AE3D-103833A2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PDV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39681F-4C7C-4481-83BB-210E73BB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EF7EED-4F19-4B48-A412-57038AFE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52BF8D-1A03-4837-8ED4-7CB2B02D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FF326B-13CF-4526-8C3C-72146EBD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6440BE-72B2-4E88-A6C9-0EEE2C7F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8FDEC9-8160-409F-BFE1-DFE325CE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A2C1EA-D877-413F-80A7-5B33C3E2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B689BB-9B69-4546-8ACC-600469CE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07282E-40E8-4279-9EFA-A25A9478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D000B7-8C36-40DA-93C1-E7848937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CA67C6-CA45-49CA-A1DA-BFADF69C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B5B0E0-DCCF-4335-B0C0-DA6A4EFD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549C92-755E-4BFF-8083-122DA4CB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24B265A-9ED3-4BF9-9372-CBBAB2A4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Atendimento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D4AEFFC-7EBA-4F29-BDD4-65299B99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460D42-44CB-439D-8F72-4005EE95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0D7E55-76C9-4D14-AF62-FBF1B910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1633CE-EFAD-44B3-AB3E-73446A61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114279-3C5B-42EA-B6BD-AEF0AEEB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22E8C02-B3E1-4E45-BBCC-91002CF0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AB71038-DB40-49A9-8899-0542C2C3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851193-A87B-441D-A4A4-7AE1475D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B444608-77F4-43A0-A77D-25FB7B35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3132158-2C25-4447-BDF8-515EAC41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B1A9082-7BC7-41CD-961A-C4A37732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AF6868-DAC7-4652-9928-BB722B21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038725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E60F82F-E4AC-4D7F-A509-56E24A00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Sistemas corporativos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BBFBE75-212D-492C-8ABD-1F581DE8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81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E8E8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8E8"/>
                </a:solidFill>
                <a:latin typeface="Arial"/>
                <a:ea typeface="Arial"/>
                <a:cs typeface="Arial"/>
              </a:rPr>
              <a:t>CRM     ERP     Billing     Catálogo     Legado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DC9D09B-6E76-4EAB-ABC9-1EC8FD88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CC1F5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C1F59"/>
                </a:solidFill>
                <a:latin typeface="Arial"/>
                <a:ea typeface="Arial"/>
                <a:cs typeface="Arial"/>
              </a:rPr>
              <a:t>Uma mudança de jornada se multiplica por canal.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B79A85-123D-4518-BD66-83C9D5D3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38825"/>
            <a:ext cx="569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mais tempo para lançar  •  custo maior  •  experiências diferentes  •  menos energia para inovar</a:t>
            </a:r>
          </a:p>
        </p:txBody>
      </p:sp>
    </p:spTree>
    <p:extLst>
      <p:ext uri="{BB962C8B-B14F-4D97-AF65-F5344CB8AC3E}">
        <p14:creationId xmlns:p14="http://schemas.microsoft.com/office/powerpoint/2010/main" val="7780325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BB5934-B768-45BD-A638-3B4810A4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dc21906ee4c34">
            <a:extLst>
              <a:ext uri="{96DAC541-7B7A-43D3-8B79-37D633B846F1}">
                <asvg:svgBlip xmlns:asvg="http://schemas.microsoft.com/office/drawing/2016/SVG/main" r:embed="R9cb15c6e31014b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76A9E-DDA8-41DA-B563-138F3F0C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0A0B8-8437-4A2C-B83C-BAAEC283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F3AA5-1FDC-43C5-8B98-3324973A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07015-412A-47CF-87CE-6D746435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9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O custo aparece quando uma chamada simples atravessa camadas demais.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F87C7-EEC1-4110-8D6B-95FBDEFC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 a integração é síncrona e direta, mensageria e ACL aumentam a operação sem entregar um benefício claro.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B9B9A-BB8A-4C51-8C0F-C78094E2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2543175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097C2-2718-4CD4-A5F2-1C8AA6ED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543175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2B197-1A2A-4F6F-A0B6-12D2F9CF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2543175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22387-C53A-4B8F-9C8F-22546DAD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" y="42672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05AC0-DEA9-4525-BC7B-43ECDD32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42672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E6AF0-9982-4273-8FD4-1B252B78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42672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359C8-7876-4AC7-93DB-5B7ED1FA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42672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E9151-6442-4201-8D17-026F78ED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42672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9D256-CE10-4A07-99E3-4A376257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CAMINHO DIRETO • RECOMENDADO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5FF28-CC4E-47F0-979A-3F19E902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324100"/>
            <a:ext cx="1524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7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24ABB-BCAC-433A-87CA-43ABABFD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Jornada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8B100-525E-40AB-8CEA-536BB169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2324100"/>
            <a:ext cx="1524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7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850A7-6A04-4470-8F13-F73F2F4B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03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Service Task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8F2AAB-23F7-4ECD-9DFF-64375CB8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2324100"/>
            <a:ext cx="1524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DF8E8"/>
          </a:solidFill>
          <a:ln xmlns:a="http://schemas.openxmlformats.org/drawingml/2006/main" w="14288">
            <a:solidFill>
              <a:srgbClr val="99CC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EB2BDC-63B0-4C14-94B1-2527FFEB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003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Conector REST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49C6E-A474-4262-994F-79B289DA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2324100"/>
            <a:ext cx="1524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7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A81C02-D20C-46EF-BF5E-E6517B18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03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API corporativa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06875-CFC2-416A-B6F4-30CCA5B9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Contrato claro • erros tratados no motor • menos serviços para manter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6C1FC-1D2C-46AD-9A15-5A637E4F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C1F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C1F59"/>
                </a:solidFill>
                <a:latin typeface="Arial"/>
                <a:ea typeface="Arial"/>
                <a:cs typeface="Arial"/>
              </a:rPr>
              <a:t>VIA ACL • QUANDO HÁ TRANSFORMAÇÃO OU ISOLAMENTO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51566B-6C46-4529-8D1E-69D52124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48125"/>
            <a:ext cx="1333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DDD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3F5B7-3C43-4482-96B6-5AB10753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243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Jornada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A7251A-596C-48F6-BFA9-2587D90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4048125"/>
            <a:ext cx="1333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E4EF"/>
          </a:solidFill>
          <a:ln xmlns:a="http://schemas.openxmlformats.org/drawingml/2006/main" w="14288">
            <a:solidFill>
              <a:srgbClr val="F0A5C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2136A2-ED59-43E4-BAB9-718686BB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243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B7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71D63"/>
                </a:solidFill>
                <a:latin typeface="Arial"/>
                <a:ea typeface="Arial"/>
                <a:cs typeface="Arial"/>
              </a:rPr>
              <a:t>Evento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756E4D-5546-48EF-B13D-8062114C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4048125"/>
            <a:ext cx="1333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E4EF"/>
          </a:solidFill>
          <a:ln xmlns:a="http://schemas.openxmlformats.org/drawingml/2006/main" w="14288">
            <a:solidFill>
              <a:srgbClr val="F0A5C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14DF71-1BDB-4C7B-91B3-398B059A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243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B7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71D63"/>
                </a:solidFill>
                <a:latin typeface="Arial"/>
                <a:ea typeface="Arial"/>
                <a:cs typeface="Arial"/>
              </a:rPr>
              <a:t>Tópico / fila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222720-F6D3-4ED8-B295-9BA18DE2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4048125"/>
            <a:ext cx="1333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E4EF"/>
          </a:solidFill>
          <a:ln xmlns:a="http://schemas.openxmlformats.org/drawingml/2006/main" w="14288">
            <a:solidFill>
              <a:srgbClr val="F0A5C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30BFFD-4423-4FD9-AB6E-DAA54C70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243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B7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71D63"/>
                </a:solidFill>
                <a:latin typeface="Arial"/>
                <a:ea typeface="Arial"/>
                <a:cs typeface="Arial"/>
              </a:rPr>
              <a:t>Consumidor ACL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531EF5-C6A4-4AD0-9461-D9A1F242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4048125"/>
            <a:ext cx="1333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E4EF"/>
          </a:solidFill>
          <a:ln xmlns:a="http://schemas.openxmlformats.org/drawingml/2006/main" w="14288">
            <a:solidFill>
              <a:srgbClr val="F0A5C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41A9A8-E77B-43DD-9588-067D9D4B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243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B7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71D63"/>
                </a:solidFill>
                <a:latin typeface="Arial"/>
                <a:ea typeface="Arial"/>
                <a:cs typeface="Arial"/>
              </a:rPr>
              <a:t>Adaptador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2B73BF-3145-4D5E-88B6-1E524236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300" y="4048125"/>
            <a:ext cx="1333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DDD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547085-278F-48E8-97CC-551AEA34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243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API corporativa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392D28-714B-448F-8D1E-3E10A049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017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C1F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C1F59"/>
                </a:solidFill>
                <a:latin typeface="Arial"/>
                <a:ea typeface="Arial"/>
                <a:cs typeface="Arial"/>
              </a:rPr>
              <a:t>Mais serviços • maior latência • rastreamento dividido • mais esforço de operação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66CA58-B9AD-48FB-8EA3-096EC206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86400"/>
            <a:ext cx="10820400" cy="638175"/>
          </a:xfrm>
          <a:prstGeom xmlns:a="http://schemas.openxmlformats.org/drawingml/2006/main" prst="roundRect">
            <a:avLst>
              <a:gd name="adj" fmla="val 23881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E5BDB9-D525-4989-BD30-FDE9BBCC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Em resumo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7989F4-DD6E-40FC-BABE-192567B6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197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4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O controle vem de bons contratos, segurança e rastreabilidade — não do número de camadas.</a:t>
            </a:r>
          </a:p>
        </p:txBody>
      </p:sp>
    </p:spTree>
    <p:extLst>
      <p:ext uri="{BB962C8B-B14F-4D97-AF65-F5344CB8AC3E}">
        <p14:creationId xmlns:p14="http://schemas.microsoft.com/office/powerpoint/2010/main" val="1478142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BA12A3-E8C2-4099-BB22-CDDF8066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e3554d375433f">
            <a:extLst>
              <a:ext uri="{96DAC541-7B7A-43D3-8B79-37D633B846F1}">
                <asvg:svgBlip xmlns:asvg="http://schemas.microsoft.com/office/drawing/2016/SVG/main" r:embed="Rf7fa6aff2a2946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3700C-6BFA-426E-AAA7-F9A02A6B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6537E-74D1-4A5B-8171-B577647C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4283B-84FE-4DA0-8D5E-C86B1C85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703BE-E57E-473B-AF7D-59EC325B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 regra é simples: REST por padrão; ACL quando houver uma necessidade clara.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2B623-91F2-4873-B5D7-D07E9AC6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534025" y="2590800"/>
            <a:ext cx="952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15D4E-CD2D-4E7A-ADCE-7F3E9AC5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2590800"/>
            <a:ext cx="952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D3CE4-7248-4175-A3CA-55358B1B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75" y="1905000"/>
            <a:ext cx="31432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660099"/>
          </a:solidFill>
          <a:ln xmlns:a="http://schemas.openxmlformats.org/drawingml/2006/main" w="14288">
            <a:solidFill>
              <a:srgbClr val="6600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CCAD6-0EFB-46FB-8123-87822219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812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integração precisa transformar,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combinar ou isolar?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ABED8-2336-4F96-9C7B-8E89F174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669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NÃO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3CE20-82A7-40C8-BDF2-41136DBD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476500"/>
            <a:ext cx="31432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DF8E8"/>
          </a:solidFill>
          <a:ln xmlns:a="http://schemas.openxmlformats.org/drawingml/2006/main" w="14288">
            <a:solidFill>
              <a:srgbClr val="ADD5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E0CC2-08E8-4E38-89F9-63533374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REST direto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via conector genérico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68096-6D59-43C8-AE06-0D71E16A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7DAED-F2ED-42C0-BEF8-27876E0E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Contrato suficiente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6A1A3-4A3C-473D-A060-CEF4B7CA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862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API já entrega o que a jornada precisa.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FB21B-85D2-4165-BC71-2CC8E0F9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F8A5C-D450-4590-8DCF-F1F211B2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720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Chamada e resposta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FA98E-B61A-44C2-A773-B433B91B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6727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 fluxo é síncrono e direto.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758D2-9837-4DF9-84A1-AFE1913A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9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DB5BD-8668-4AC6-B43C-DA92DBF6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530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Sem adaptação extra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D40CE-39DC-4315-BA18-251EAF98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483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Não há combinação, transformação ou isolamento.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89DEBD-D434-4D25-8A31-75A852A8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669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C1F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C1F59"/>
                </a:solidFill>
                <a:latin typeface="Arial"/>
                <a:ea typeface="Arial"/>
                <a:cs typeface="Arial"/>
              </a:rPr>
              <a:t>SIM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595B1-3D3E-4DB3-958F-54E6A2B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2476500"/>
            <a:ext cx="31432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CE4EF"/>
          </a:solidFill>
          <a:ln xmlns:a="http://schemas.openxmlformats.org/drawingml/2006/main" w="14288">
            <a:solidFill>
              <a:srgbClr val="F0A5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26006-3606-4614-84D4-4EA24BBA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B71D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D63"/>
                </a:solidFill>
                <a:latin typeface="Arial"/>
                <a:ea typeface="Arial"/>
                <a:cs typeface="Arial"/>
              </a:rPr>
              <a:t>ACL com papel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B71D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D63"/>
                </a:solidFill>
                <a:latin typeface="Arial"/>
                <a:ea typeface="Arial"/>
                <a:cs typeface="Arial"/>
              </a:rPr>
              <a:t>bem definido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D870F5-92B7-4846-9759-3AFA08BE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9235B3-F058-4C21-B72E-59053B1B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Transformar ou combinar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A6F14B-85F6-4254-9091-40C5447E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862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Ajustar dados, contratos ou reunir sistemas.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0624E8-69F0-4588-ACD7-D709A963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CBD8B8-B68B-48ED-A7A3-9C404B2E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720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Proteger do legado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A59ACE-4112-447A-9680-F5615E6A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Isolar instabilidade ou mudanças frequentes.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28C60F-7646-4E4A-BE4B-8FA7A1B2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49CE25-2223-43A4-B635-3B3D6297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530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Seguir padrão corporativo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3B5A37-976F-49EC-82F3-A145558F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483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Somente quando houver um ganho claro.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828AD4-3421-4445-8BAF-E0F3BE1C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3686175"/>
            <a:ext cx="3124200" cy="2066925"/>
          </a:xfrm>
          <a:prstGeom xmlns:a="http://schemas.openxmlformats.org/drawingml/2006/main" prst="roundRect">
            <a:avLst>
              <a:gd name="adj" fmla="val 921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2C4462-A570-4B31-AFAF-35CB105C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338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6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Regras para os dois caminhos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9C8607-4A10-4379-9033-5AA6778D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19600"/>
            <a:ext cx="2514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Contratos versionados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Rastreabilidade ponta a ponta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Limites de tempo e novas tentativas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Segurança e auditoria</a:t>
            </a:r>
          </a:p>
        </p:txBody>
      </p:sp>
    </p:spTree>
    <p:extLst>
      <p:ext uri="{BB962C8B-B14F-4D97-AF65-F5344CB8AC3E}">
        <p14:creationId xmlns:p14="http://schemas.microsoft.com/office/powerpoint/2010/main" val="15091259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017DC2-7B03-4EE9-B0D2-ABC278A2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5e7293b64495b">
            <a:extLst>
              <a:ext uri="{96DAC541-7B7A-43D3-8B79-37D633B846F1}">
                <asvg:svgBlip xmlns:asvg="http://schemas.microsoft.com/office/drawing/2016/SVG/main" r:embed="Rd87e49b537ef41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59C02-E450-4759-8904-43F4745D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7FCFD-0B09-44EC-8F51-AE00B86E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0AD04-1259-4FA2-8EB8-2870337C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2817B-4CD9-4095-A272-9015422D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No modelo proposto, cada parte faz o que sabe fazer melhor.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B55E7-605D-4C4E-B466-19F3BCF9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REST é o caminho principal. Eventos são usados somente quando a necessidade for assíncrona.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6EC91-E942-4A74-942C-A67EB5AD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3219450"/>
            <a:ext cx="533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FC154-F604-40FB-858E-30A05D7A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3219450"/>
            <a:ext cx="514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36074-6A40-4BB0-BA20-607C26A1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2952750"/>
            <a:ext cx="914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A3631-54F6-4E7C-89AB-825B8AC0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4476750"/>
            <a:ext cx="914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8C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DF306-886A-4E55-8ED1-CD643FCC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CANAIS DIGITAIS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F5A58-2EAA-47D3-B592-AB8F0A94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333625"/>
            <a:ext cx="14668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9BB39-ED9C-4EBB-9304-E772E564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Mobile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54AB3-CBFC-4D79-9D9D-678FA7F8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038475"/>
            <a:ext cx="14668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7432A-F8B4-48FB-91A2-2A3A8A11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Web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4A9C6-D20D-490E-92B3-FADA739C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743325"/>
            <a:ext cx="14668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1CA05-E85E-464C-A19C-2B535A5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WhatsApp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8BD48-807E-4CF0-82BD-EDABEE60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448175"/>
            <a:ext cx="14668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00FFA-9A4A-4C0C-849E-C8EF35B9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Atendimento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17777-7695-447F-954E-455297BD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52625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ADAPTAÇÃO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1FA16-7552-4ADA-A095-15BF5271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2705100"/>
            <a:ext cx="1314450" cy="137160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4288">
            <a:solidFill>
              <a:srgbClr val="DDDD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2FCAF-62A9-4192-B955-C9562118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81300"/>
            <a:ext cx="11239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BFF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opcional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90FE5-6E0A-4574-839B-0A06E0C3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38625"/>
            <a:ext cx="1181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Autenticação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Sessão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Adaptação por canal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A455C9-0946-45DA-B9C0-44B21D8B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1952625"/>
            <a:ext cx="4362450" cy="357187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CC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6AE93-7E1F-457D-AB95-B74DE205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1952625"/>
            <a:ext cx="4362450" cy="666750"/>
          </a:xfrm>
          <a:prstGeom xmlns:a="http://schemas.openxmlformats.org/drawingml/2006/main" prst="roundRect">
            <a:avLst>
              <a:gd name="adj" fmla="val 34286"/>
            </a:avLst>
          </a:prstGeom>
          <a:gradFill xmlns:a="http://schemas.openxmlformats.org/drawingml/2006/main">
            <a:gsLst>
              <a:gs pos="0">
                <a:srgbClr val="461E5F"/>
              </a:gs>
              <a:gs pos="100000">
                <a:srgbClr val="660099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0EBC04-1CD4-4BB2-94FD-9D042191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2381250"/>
            <a:ext cx="4362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BBF2A3-89FC-4CD8-9420-DF3C0B71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85975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ELASTIC JOURNEY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CD588E-D055-4301-8F0C-64136B9F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670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CONFIGURAÇÃO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EF1133-3AD7-4917-8B9B-BC6DD357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1752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Jornadas visuais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Formulários SDUI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 e versões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Publicação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D7FCBC-3B50-435D-983B-C8A8DEAE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2809875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25EE6B-3FE8-4B76-AC86-1531DD9E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670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EXECUÇÃO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2EE8ED-93E8-4F1A-8F1E-0C2E61B2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600"/>
            <a:ext cx="1752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Execução de jornadas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Service / User Tasks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Conectores REST / Kafka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 e tratamento de erros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89A37F-468E-4986-B68C-C3A470AC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781550"/>
            <a:ext cx="38862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937C7B-EBC4-4D33-9132-71791CE4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05375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97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61E5F"/>
                </a:solidFill>
                <a:latin typeface="Arial"/>
                <a:ea typeface="Arial"/>
                <a:cs typeface="Arial"/>
              </a:rPr>
              <a:t>Governança • Segurança • Auditoria • Observabilidade • Escala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94A0FE-C8A7-4B08-8CCA-804FB892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52625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55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SISTEMAS CORPORATIVOS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DCD7D9-FF4F-408F-8EB3-61BD694F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2305050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5C5DEA-5BAC-4ECD-9D9D-36E7EA73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CRM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6FD712-56E9-42F2-AE01-C134B5CA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2924175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0556F5-B2B7-465F-9F27-B0BF1DCC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003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ERP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5720E3-3286-4FE5-A0AC-30D1CBAE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3543300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35A140-D86C-448E-8B40-F90FD51C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195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Billing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D1B2A2-0A27-47E7-A6F0-7622BEB4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4162425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A1C18D-0793-4730-9FC6-6C4C2EA1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3862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8740DF-EE09-4022-8BD8-297F23E6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4781550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DB64E4-BC61-46C7-8F38-05B5402B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57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Legado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DF4560-8ECA-44E5-9D7A-D06496D4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4315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REST / JSON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SÍNCRONO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D4849A-B861-4F6A-B01A-CB4DB7E6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862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EVENTOS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OPCIONAL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658530-CD93-43A9-88B7-205725A8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819775"/>
            <a:ext cx="108204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03538D-DCC2-4CEC-AF18-E71DF7A7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040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mesma jornada pode atender vários canais, sem apagar as diferenças que realmente importam para cada um.</a:t>
            </a:r>
          </a:p>
        </p:txBody>
      </p:sp>
    </p:spTree>
    <p:extLst>
      <p:ext uri="{BB962C8B-B14F-4D97-AF65-F5344CB8AC3E}">
        <p14:creationId xmlns:p14="http://schemas.microsoft.com/office/powerpoint/2010/main" val="819087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DD6E74-8C53-4DE2-A215-D69ABAF7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68906d71d4a2a">
            <a:extLst>
              <a:ext uri="{96DAC541-7B7A-43D3-8B79-37D633B846F1}">
                <asvg:svgBlip xmlns:asvg="http://schemas.microsoft.com/office/drawing/2016/SVG/main" r:embed="Re7cfbbf7f1264f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DA24D-4953-438A-90D8-CC779D21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E2522-26F2-4D3F-8B47-C7DE5DC4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0AA09-25C3-4ED7-90E2-760DD077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DD9D3-E805-48B1-83C4-9DA4833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Ideias chegam mais rápido à validação.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DAA5C-9BF8-4D2A-BD48-2EF7FED5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plataforma encurta o caminho entre uma hipótese de negócio, sua execução e o aprendizado gerado.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44297-1D6A-4C55-8E14-6F68879D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050" y="2819400"/>
            <a:ext cx="533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0E8A0-4ADC-482C-A35F-61A5B58F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819400"/>
            <a:ext cx="533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C181-5F56-4370-929E-C65DBACE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2819400"/>
            <a:ext cx="533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3591C-B93A-4850-98DA-72899BF7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2819400"/>
            <a:ext cx="533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13E4A-C988-4501-912D-E28013E5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981200" y="4781550"/>
            <a:ext cx="8267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E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70C15-BA8D-41F4-9420-4D8187EA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3FA91-BF94-408E-A25A-3DE7F112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3146E-E132-4CDD-9B14-18D6C18E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B3D7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B3D7D"/>
                </a:solidFill>
                <a:latin typeface="Arial"/>
                <a:ea typeface="Arial"/>
                <a:cs typeface="Arial"/>
              </a:rPr>
              <a:t>Definir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D2EBE-E8DF-485E-B7B5-09E497E8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4332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Escolher a hipótese e o resultado esperado.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EBAF0-0976-45EF-9EAF-55A6DFFF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9B148-9F30-470A-9328-45E33D89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431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E9680-9114-4362-AB6F-F89A1D44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05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Montar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C5DE3-9CE2-4730-B135-6C2F4B99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4332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Configurar o fluxo, as regras e a experiência.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2DEE5-8257-4D88-9D70-446DE6B9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3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217C7-98EB-4B65-961E-F1C1B0C1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431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E82B29-0F42-474D-AD17-915E50CA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05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Publicar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BEEE8-B0E7-441B-BF3C-EF23343E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4332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Criar uma versão pronta para uso e rastreável.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2728A-0FE5-4758-BDB4-5CFEE842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3E6518-C607-4011-BFCB-814DF243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D64E4-412E-4268-ADFC-AE19CEE2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05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ABD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ABDB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3016B-748C-4674-BAD5-66ED13CF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4332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Executar, observar e reunir evidências.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2AE134-35DC-4D7E-BB6B-D8F8FEAE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E5A05F-30B1-47CE-88ED-69941B51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431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5C3957-D7B7-4DA9-95C5-68368DA0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051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Ajustar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75AFFB-F69E-4717-ACC9-94E43B3C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4332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Evoluir sem afetar a versão que está em uso.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3B228C-0132-411D-A776-B3D5AE01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291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APRENDER E REPETIR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C14F5B-7BCE-4952-AAF9-E4F1B4A7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48300"/>
            <a:ext cx="108204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5D3C88-8DD5-4239-9847-FB35DE95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O efeito para o negócio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658967-FB85-4870-9272-197B71A2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72125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menos dependências  •  validação antecipada  •  mais reaproveitamento  •  evolução segura</a:t>
            </a:r>
          </a:p>
        </p:txBody>
      </p:sp>
    </p:spTree>
    <p:extLst>
      <p:ext uri="{BB962C8B-B14F-4D97-AF65-F5344CB8AC3E}">
        <p14:creationId xmlns:p14="http://schemas.microsoft.com/office/powerpoint/2010/main" val="8142491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1A9029-DDFD-4EF5-8810-AF974B32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53376b9534c0d">
            <a:extLst>
              <a:ext uri="{96DAC541-7B7A-43D3-8B79-37D633B846F1}">
                <asvg:svgBlip xmlns:asvg="http://schemas.microsoft.com/office/drawing/2016/SVG/main" r:embed="R8fd534efd13a49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29D62-8DC9-4B29-9948-2DD767D6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9040B-A8B3-4249-B2E8-3A0A6303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8E0CA-E830-4113-B846-0C8CEAB2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D5C31-C815-43CC-8A7F-6CF8616A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9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 solução está avançada; a preparação para produção concentra o trabalho que falta.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FE963-83E7-42B5-8F8A-A5F5FC94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 funções principais estão praticamente concluídas. Testes e infraestrutura ainda precisam entrar.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66750" y="1924050"/>
          <a:ext xmlns:a="http://schemas.openxmlformats.org/drawingml/2006/main" cx="3143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af194b28234a3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C1AB0-2A29-4FBC-8011-EB9B3DAE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71775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90%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F0604-6C65-4C67-9E8F-9599327E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4805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335 de 371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requisitos concluídos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EBEEC-E331-4D2F-9747-1CBADDCF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0 bloqueados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3FD5F-2E28-488C-8B40-60408BAE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193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Núcleo da solução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06F9C-821A-40A4-9E4F-E94B71AF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193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253 / 255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8697A-C4F1-4D8D-926D-5BCC07AA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9075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99%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D6290-845C-4BED-B542-3B37EA6E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581275"/>
            <a:ext cx="6038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CF47B-6D35-4E2C-86CA-D7D2C960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581275"/>
            <a:ext cx="597846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32BB9-886C-4A7C-984E-E04F1B1C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603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Produtos, canais, jornadas, modelagem, SDUI, execução e versionamento.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0D36D-5F94-4857-81BF-A1F62977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Governança e operação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B4A51-DF14-42C5-A363-4D56A242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82 / 86 aplicáveis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8DE0F-E6A3-4B70-97BF-E8649D37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43275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00ABD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BDB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2E130-EC9C-4F1B-AAF0-C30A7F0F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3733800"/>
            <a:ext cx="6038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16DC95-3E1D-4EBA-92C6-D08E7115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3733800"/>
            <a:ext cx="5736908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FECB8-BA5C-4D8D-851A-3B6D1AD4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71925"/>
            <a:ext cx="603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Autorização, auditoria, ajuda, acompanhamento e painel.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9BDE9-3616-46EE-88CA-ADEC5FAB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Preparação para produção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670B6-D3E7-4EE2-81D6-546C768D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243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 / 28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6195A3-05E6-495D-8BCE-5A98F281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9580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FF99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9900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194A7-5C04-4BC5-A3A7-77E5766D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4886325"/>
            <a:ext cx="6038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4AAE1-6F96-4A6F-825F-6320E3A2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24450"/>
            <a:ext cx="603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Testes automatizados e infraestrutura de produção.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14EDC3-549B-474E-B412-7E70629C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705475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D30BC9-0990-4016-ADFD-9E0A0742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Verificação técnica em 20/08/2026: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BD2517-62F9-494B-A2A9-3F0004D0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102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front-end e back-end compilam  •  ainda não há testes automatizados</a:t>
            </a:r>
          </a:p>
        </p:txBody>
      </p:sp>
    </p:spTree>
    <p:extLst>
      <p:ext uri="{BB962C8B-B14F-4D97-AF65-F5344CB8AC3E}">
        <p14:creationId xmlns:p14="http://schemas.microsoft.com/office/powerpoint/2010/main" val="7432126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C0947B-55CF-4BE5-85E8-3714EB11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8b401be0b41f0">
            <a:extLst>
              <a:ext uri="{96DAC541-7B7A-43D3-8B79-37D633B846F1}">
                <asvg:svgBlip xmlns:asvg="http://schemas.microsoft.com/office/drawing/2016/SVG/main" r:embed="Rdae3d48ec2d740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BD34F-D201-427D-8234-56833D72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008C6-34F2-4BC5-9F37-CEB5DC8F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1513F-2A61-4363-9E8E-7F1971EA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13D91-B17E-468A-8C47-532F65A0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O produto já prova a proposta. Produção exige fechar cinco pontos.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BA82E-501E-445A-9D1E-85F810C4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724025"/>
            <a:ext cx="5219700" cy="4010025"/>
          </a:xfrm>
          <a:prstGeom xmlns:a="http://schemas.openxmlformats.org/drawingml/2006/main" prst="roundRect">
            <a:avLst>
              <a:gd name="adj" fmla="val 5226"/>
            </a:avLst>
          </a:prstGeom>
          <a:solidFill xmlns:a="http://schemas.openxmlformats.org/drawingml/2006/main">
            <a:srgbClr val="EDF8E8"/>
          </a:solidFill>
          <a:ln xmlns:a="http://schemas.openxmlformats.org/drawingml/2006/main" w="9525">
            <a:solidFill>
              <a:srgbClr val="C7E6B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DF492-F37B-4602-92E1-68B068D8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1724025"/>
            <a:ext cx="5219700" cy="4010025"/>
          </a:xfrm>
          <a:prstGeom xmlns:a="http://schemas.openxmlformats.org/drawingml/2006/main" prst="roundRect">
            <a:avLst>
              <a:gd name="adj" fmla="val 5226"/>
            </a:avLst>
          </a:prstGeom>
          <a:solidFill xmlns:a="http://schemas.openxmlformats.org/drawingml/2006/main">
            <a:srgbClr val="FFEFE1"/>
          </a:solidFill>
          <a:ln xmlns:a="http://schemas.openxmlformats.org/drawingml/2006/main" w="9525">
            <a:solidFill>
              <a:srgbClr val="FFD6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B43EE-75B2-4DD0-AB15-8E3DDD68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907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JÁ FUNCIONA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4AEA0-971B-4FD0-AF97-3ACCD55A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43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DDB38-0FD1-4826-AD21-A01C6E8B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8B9B9-5422-4557-A6BC-3ADD994F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76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Modelagem visual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8B075-8F1B-47DE-A8A2-00CFC458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REST, Kafka, gateway, variáveis e anotações.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B6A9A-DA6C-438F-8D8E-51F82D1C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29401-CAD5-451C-8389-D194064A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26F58-EA49-4660-A2AF-6D37F840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Experiência SDUI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F1CBF-CE58-4863-8201-61AFF928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861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Formulários reutilizáveis e versão publicada preservada.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8894D-C266-4CA7-8D84-8B01669C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6F22D-DA7A-44B1-B595-5BB69529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4E79D-DA8C-43C9-8E1E-27DA94A7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5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Ciclo de vida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0FBC5-8C5E-4210-B9C7-B6AD5211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957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Versões, publicação, despublicação e auditoria.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1DAD3-3883-47C7-A26F-A5F6DDAF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71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3538A-22CE-4F89-A229-DB4F4830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1F00A-48DF-4B7B-BCE4-9B4FBF12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Execução real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222818-5FBF-4B65-8097-69C3B06E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053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Motor, Kafka, tratamento de falhas e painel.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E0B0F-7D58-4684-9E16-BE27C993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81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73FC1-0A5E-4513-8703-B12DCCCE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192A41-665C-4BB6-9650-0B141475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14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Integridade técnica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02BEDD-7630-4095-9FA3-3B6B1C29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149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Front-end e back-end compilam.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E47949-912C-4A23-821F-22090B68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ANTES DO PILOTO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E22DB2-2F7C-42D4-B27E-F0263774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43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773E85-F4F7-4BE7-93C6-ECD3B663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B20E13-0A9B-4CBB-BF99-BC7DC7A9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Testes automatizados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87C39F-8E21-4043-918F-CBD3216C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Unitários, integração, front-end e ponta a ponta (0/12).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C0CFD8-BD46-4C66-B2FC-5A077968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94B7FA-0C2D-4366-9970-60FCFE2F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804722-DDFF-4CB1-AD75-97A861E0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861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Entrega e ambientes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05F97D-D72E-48D9-8EA8-826579E4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861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Docker, Kubernetes, CI/CD e Azure (0/16).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21DC6F-8245-4CBA-9CE6-BB2A07CD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A83D6C-52B0-44CA-BD11-CED5E5DD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DD9978-95CC-4091-A0CF-53E5E86E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957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Identidade corporativa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E36A1F-786A-43F5-A475-8A938967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957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Trocar o provedor simulado e concluir a gestão de acessos.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09028F-ACCC-4E19-9BDE-8354D2E3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71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B770A2-4A8E-4F40-BCBF-7124A4A0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8E363B-1979-40ED-9584-D90391C5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05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Primeiras integrações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CB0446-B64C-453E-BFD9-541E3069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3053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0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Fechar o contrato do motor e validar cenários REST de negócio.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299AAB-AAB0-4D4E-B2A4-102EE121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81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F159A7-74FC-43EA-BF86-31EE950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720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0A8E0D-52CD-423D-9E5B-5F00FD6B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Acompanhamento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7EF647-03EB-4B74-A609-D004C224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Integrar logs e métricas ao ambiente ELK.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A2664C-1523-4684-AA91-407E20E9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5924550"/>
            <a:ext cx="87630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C43CD7-43A2-4E20-B7CB-19AE35FD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72175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3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Recomendação: iniciar o piloto após concluir o mínimo necessário em testes, ambientes, identidade e acompanhamento.</a:t>
            </a:r>
          </a:p>
        </p:txBody>
      </p:sp>
    </p:spTree>
    <p:extLst>
      <p:ext uri="{BB962C8B-B14F-4D97-AF65-F5344CB8AC3E}">
        <p14:creationId xmlns:p14="http://schemas.microsoft.com/office/powerpoint/2010/main" val="6619262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C3157B-15B8-4538-B440-02B2AFDD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51b5899c44a01">
            <a:extLst>
              <a:ext uri="{96DAC541-7B7A-43D3-8B79-37D633B846F1}">
                <asvg:svgBlip xmlns:asvg="http://schemas.microsoft.com/office/drawing/2016/SVG/main" r:embed="Raa8bd187db3a48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6F109-DAFC-4F56-B2B0-DA473EC2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66E40-1E6E-4D63-87DC-25DE2B59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0C8A8-F6AD-4849-ACE6-8E0428AE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BDCBA-F0D8-47FE-9FB4-84BB2DA7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Preparar, pilotar e ampliar.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223AC-5D3A-42E3-B940-8F3BB8FF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sequência reduz o risco e permite comprovar valor antes de aumentar o alcance.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19083-BA7C-4F83-BF4E-3E566092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2857500"/>
            <a:ext cx="762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6CF89-B653-4772-9FD5-66CDE2F7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4775" y="2857500"/>
            <a:ext cx="762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024EC-23EB-4490-91E3-D31EFBF4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840E0-5812-4618-9685-2D5131E5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351C0-8E64-44E6-A065-F46E8B6D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52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Preparar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0EAE4-85D8-4D9A-9FAA-AD8F9FE4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Deixar a solução segura e repetível para o piloto.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C391B-631A-4D23-9D50-20A6461A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66C8B-9210-442C-A3C8-C4B813AF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C0606-58C9-409E-8580-47D46040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Testes dos cenários críticos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BD3AB-1E6C-4AC2-A720-E7199AEE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67F7C-8E52-4F81-BB02-E0E32D2B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Pipeline e ambientes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1918F-A967-46FE-B5F6-059CF866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E3011-9040-4BA2-9EFD-948D1336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Identidade e contrato do motor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93813-C326-40CB-8DEE-1F6C622A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676900"/>
            <a:ext cx="3238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6600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27811-1474-41CD-924A-BDC3205E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Pronto para avançar: pipeline estável e cenários críticos automatizados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59BBC-FCC1-4831-9577-0FA442C4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240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34159-CE77-4EF8-BA25-B9F84464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33600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DD3814-12B4-4BED-A451-1B8BA540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52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EB3D7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B3D7D"/>
                </a:solidFill>
                <a:latin typeface="Arial"/>
                <a:ea typeface="Arial"/>
                <a:cs typeface="Arial"/>
              </a:rPr>
              <a:t>Pilotar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FE5708-439E-4C33-A4C1-B771D650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623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Testar valor com uma jornada relevante e bem acompanhada.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1BFEA4-950B-4C48-9FC6-DE890120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4000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353D00-B589-42AA-9807-6EA6A3E3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C6BAD-BA46-42B6-9691-445F66E7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100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Um caso de negócio com patrocinador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C9E27F-CB9D-40FD-988F-894FB69A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138A4-295D-4496-A83C-C176E140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2440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Dois canais para confirmar o reuso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78A10B-1B9A-4759-86B6-32C63862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05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D646BE-E3A4-419B-9055-67CF4AA6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387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5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Medidas iniciais de prazo, retrabalho e incidentes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4C8941-252D-4826-BF5D-05FC8E55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5676900"/>
            <a:ext cx="3238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CE4EF"/>
          </a:solidFill>
          <a:ln xmlns:a="http://schemas.openxmlformats.org/drawingml/2006/main" w="9525">
            <a:solidFill>
              <a:srgbClr val="EB3D7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7D1F85-74A6-4F99-ACF3-CF76374C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B3D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B3D7D"/>
                </a:solidFill>
                <a:latin typeface="Arial"/>
                <a:ea typeface="Arial"/>
                <a:cs typeface="Arial"/>
              </a:rPr>
              <a:t>Pronto para avançar: valor comprovado e riscos conhecidos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9497FC-5C0F-437A-BF85-EA56D30A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240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9B0E5C-42F6-43EA-B4AC-C987D37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33600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6F4329-A0CC-480B-8346-931D91DC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52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Ampliar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65AF4D-3359-420A-8CAD-454A6C14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623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Levar o que funcionou para outros produtos e canais.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8D31F3-988B-42FB-A132-B98C8450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4000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3A7504-07D7-4E3B-BCDF-2396D024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2D311C-2997-4FDE-831A-5EC41247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100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Catálogo e padrões reutilizáveis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35473D-3B1E-481D-A513-D15D0E14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471979-4E38-4064-ACE5-795AB731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2440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5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Metas de serviço, acompanhamento e suporte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0A3E9A-DC29-4065-97B0-A8FB50A4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05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76E909-0933-478F-9F44-FABA93B8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387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Governança simples e adoção pelos times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4B30B4-F9FB-480F-AD08-2D4718A0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5676900"/>
            <a:ext cx="3238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DF8E8"/>
          </a:solidFill>
          <a:ln xmlns:a="http://schemas.openxmlformats.org/drawingml/2006/main" w="9525">
            <a:solidFill>
              <a:srgbClr val="225C3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297E5E-287A-41CC-B551-1D471892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53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Pronto para avançar: operação e suporte aprovados</a:t>
            </a:r>
          </a:p>
        </p:txBody>
      </p:sp>
    </p:spTree>
    <p:extLst>
      <p:ext uri="{BB962C8B-B14F-4D97-AF65-F5344CB8AC3E}">
        <p14:creationId xmlns:p14="http://schemas.microsoft.com/office/powerpoint/2010/main" val="9163774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a56250c6f430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0D325-EAA7-4FF6-8ED4-8487CFFE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90510">
                  <a:alpha val="96000"/>
                </a:srgbClr>
              </a:gs>
              <a:gs pos="60000">
                <a:srgbClr val="21052D">
                  <a:alpha val="70000"/>
                </a:srgbClr>
              </a:gs>
              <a:gs pos="100000">
                <a:srgbClr val="090510">
                  <a:alpha val="18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11d560b994955">
            <a:extLst>
              <a:ext uri="{96DAC541-7B7A-43D3-8B79-37D633B846F1}">
                <asvg:svgBlip xmlns:asvg="http://schemas.microsoft.com/office/drawing/2016/SVG/main" r:embed="R1bca3bd6fad64c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1910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FBCE5-ED15-48E7-8E5A-A65B9CAC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10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DECISÃO EXECUTIVA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EB254-E4CD-4322-A1AD-F27F0FFB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001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Preservar a simplicidade.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Preparar a solução para produção.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D690E-4B8E-42CE-B236-FCD88595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DB041-0B1E-4C3D-982E-055A819E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8533E-D760-4A38-8259-4F813F9F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7182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Confirmar a diretriz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85D93-B045-4D80-A624-2CF2B078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ADD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ADDEF"/>
                </a:solidFill>
                <a:latin typeface="Arial"/>
                <a:ea typeface="Arial"/>
                <a:cs typeface="Arial"/>
              </a:rPr>
              <a:t>REST por padrão; ACL quando houver uma necessidade clara.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09831-F985-43CA-A12B-A8F1B831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06BB7-3A69-4BE9-98FE-A1B8B2A1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B2F30-51D3-4056-B47C-D3465C57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Priorizar o essencial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4CFFB-9B2C-4AB7-89C3-6F2AEA1E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91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ADD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ADDEF"/>
                </a:solidFill>
                <a:latin typeface="Arial"/>
                <a:ea typeface="Arial"/>
                <a:cs typeface="Arial"/>
              </a:rPr>
              <a:t>Testes, ambientes, identidade e contratos.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EC885-69D0-4CC7-AB32-FBB7E325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6967E-F0B6-41E4-B392-3CFE0C7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3AF0E-D2DD-4E98-8760-16F23FB9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81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Patrocinar o piloto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C0C3A-6250-4A5F-B06A-80E9AA71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ADD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ADDEF"/>
                </a:solidFill>
                <a:latin typeface="Arial"/>
                <a:ea typeface="Arial"/>
                <a:cs typeface="Arial"/>
              </a:rPr>
              <a:t>Caso de negócio, responsável e medidas de valor definidos.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1CE86-8C22-4C29-A852-3EB2523A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solução já provou o caminho. Agora precisamos torná-la segura para um piloto real.</a:t>
            </a:r>
          </a:p>
        </p:txBody>
      </p:sp>
    </p:spTree>
    <p:extLst>
      <p:ext uri="{BB962C8B-B14F-4D97-AF65-F5344CB8AC3E}">
        <p14:creationId xmlns:p14="http://schemas.microsoft.com/office/powerpoint/2010/main" val="4094858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ED4BB-CD49-4955-9634-00ACCA18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APÊNDICE • MATERIAL ORIGINAL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0051034234f44">
            <a:extLst>
              <a:ext uri="{96DAC541-7B7A-43D3-8B79-37D633B846F1}">
                <asvg:svgBlip xmlns:asvg="http://schemas.microsoft.com/office/drawing/2016/SVG/main" r:embed="Re7d91bc6114445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34750" y="1428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1C8C0-E02F-4464-A995-3C298421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AS IS: visão consolidada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24BAA-AEF5-4061-9D20-D8B6E79A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1066800"/>
            <a:ext cx="11334750" cy="528637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d7f7cba124e1d"/>
          <a:stretch xmlns:a="http://schemas.openxmlformats.org/drawingml/2006/main"/>
        </p:blipFill>
        <p:spPr>
          <a:xfrm xmlns:a="http://schemas.openxmlformats.org/drawingml/2006/main">
            <a:off x="2288381" y="1171575"/>
            <a:ext cx="7615238" cy="5076825"/>
          </a:xfrm>
          <a:prstGeom xmlns:a="http://schemas.openxmlformats.org/drawingml/2006/main" prst="roundRect">
            <a:avLst>
              <a:gd name="adj" fmla="val 187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A62BC-C143-4F95-8EAB-2647ECCE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8997350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A5022-D2AA-4F1E-B329-6964B22B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APÊNDICE • MATERIAL ORIGINAL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dc9dbbae643e2">
            <a:extLst>
              <a:ext uri="{96DAC541-7B7A-43D3-8B79-37D633B846F1}">
                <asvg:svgBlip xmlns:asvg="http://schemas.microsoft.com/office/drawing/2016/SVG/main" r:embed="R78035b1afd3b48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34750" y="1428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38B5D-FA57-4769-BECE-D6F98E82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REST direto × ACL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7C516-1C3B-4969-A71A-58F3D906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1066800"/>
            <a:ext cx="11334750" cy="528637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e3c51094b43c1"/>
          <a:stretch xmlns:a="http://schemas.openxmlformats.org/drawingml/2006/main"/>
        </p:blipFill>
        <p:spPr>
          <a:xfrm xmlns:a="http://schemas.openxmlformats.org/drawingml/2006/main">
            <a:off x="2288381" y="1171575"/>
            <a:ext cx="7615238" cy="5076825"/>
          </a:xfrm>
          <a:prstGeom xmlns:a="http://schemas.openxmlformats.org/drawingml/2006/main" prst="roundRect">
            <a:avLst>
              <a:gd name="adj" fmla="val 187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E399F-92D8-4AC9-8366-D570E6E4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5155494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B6BC5-C196-476F-A097-CC4D949B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APÊNDICE • MATERIAL ORIGINAL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713c9813f41e0">
            <a:extLst>
              <a:ext uri="{96DAC541-7B7A-43D3-8B79-37D633B846F1}">
                <asvg:svgBlip xmlns:asvg="http://schemas.microsoft.com/office/drawing/2016/SVG/main" r:embed="Rada82a207cc544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34750" y="1428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F206C-B5DB-4E71-A9A6-EFD45CF9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Arquitetura atual com ACL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DB3DE-3383-4F5E-AAE6-F977C4F1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1066800"/>
            <a:ext cx="11334750" cy="528637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34be912914f79"/>
          <a:stretch xmlns:a="http://schemas.openxmlformats.org/drawingml/2006/main"/>
        </p:blipFill>
        <p:spPr>
          <a:xfrm xmlns:a="http://schemas.openxmlformats.org/drawingml/2006/main">
            <a:off x="1019175" y="1171575"/>
            <a:ext cx="10153650" cy="5076825"/>
          </a:xfrm>
          <a:prstGeom xmlns:a="http://schemas.openxmlformats.org/drawingml/2006/main" prst="roundRect">
            <a:avLst>
              <a:gd name="adj" fmla="val 187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E64C3-4A1E-4EEE-8DD0-E3E88462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</p:spTree>
    <p:extLst>
      <p:ext uri="{BB962C8B-B14F-4D97-AF65-F5344CB8AC3E}">
        <p14:creationId xmlns:p14="http://schemas.microsoft.com/office/powerpoint/2010/main" val="1645249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58E47-86C4-4B61-AA09-FC27A67D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APÊNDICE • MATERIAL ORIGINAL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05e5648a148dc">
            <a:extLst>
              <a:ext uri="{96DAC541-7B7A-43D3-8B79-37D633B846F1}">
                <asvg:svgBlip xmlns:asvg="http://schemas.microsoft.com/office/drawing/2016/SVG/main" r:embed="Raa0bc74649a648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34750" y="1428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95174-A56E-4461-AFC0-8F415A40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TO BE: arquitetura proposta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CF603-5BDD-4820-A4D4-CE0BEE9A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1066800"/>
            <a:ext cx="11334750" cy="528637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4357ee65e4b10"/>
          <a:stretch xmlns:a="http://schemas.openxmlformats.org/drawingml/2006/main"/>
        </p:blipFill>
        <p:spPr>
          <a:xfrm xmlns:a="http://schemas.openxmlformats.org/drawingml/2006/main">
            <a:off x="2288381" y="1171575"/>
            <a:ext cx="7615238" cy="5076825"/>
          </a:xfrm>
          <a:prstGeom xmlns:a="http://schemas.openxmlformats.org/drawingml/2006/main" prst="roundRect">
            <a:avLst>
              <a:gd name="adj" fmla="val 187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C51E2-B032-42EF-9AA7-812637FD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</p:spTree>
    <p:extLst>
      <p:ext uri="{BB962C8B-B14F-4D97-AF65-F5344CB8AC3E}">
        <p14:creationId xmlns:p14="http://schemas.microsoft.com/office/powerpoint/2010/main" val="1215655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2026-08-20T03:54:26.2580000Z</dcterms:created>
  <dcterms:modified xsi:type="dcterms:W3CDTF">2026-08-20T03:54:26.2580000Z</dcterms:modified>
</coreProperties>
</file>